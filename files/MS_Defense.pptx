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5143500" type="screen16x9"/>
  <p:notesSz cx="6858000" cy="9144000"/>
  <p:embeddedFontLst>
    <p:embeddedFont>
      <p:font typeface="Archivo" pitchFamily="2" charset="77"/>
      <p:regular r:id="rId49"/>
      <p:bold r:id="rId50"/>
      <p:italic r:id="rId51"/>
      <p:boldItalic r:id="rId52"/>
    </p:embeddedFont>
    <p:embeddedFont>
      <p:font typeface="Cambria Math" panose="02040503050406030204" pitchFamily="18" charset="0"/>
      <p:regular r:id="rId53"/>
    </p:embeddedFont>
    <p:embeddedFont>
      <p:font typeface="DM Sans" pitchFamily="2" charset="77"/>
      <p:regular r:id="rId54"/>
      <p:bold r:id="rId55"/>
      <p:italic r:id="rId56"/>
      <p:boldItalic r:id="rId57"/>
    </p:embeddedFont>
    <p:embeddedFont>
      <p:font typeface="DM Sans Light" pitchFamily="2" charset="77"/>
      <p:regular r:id="rId58"/>
      <p:bold r:id="rId59"/>
      <p:italic r:id="rId60"/>
      <p:boldItalic r:id="rId61"/>
    </p:embeddedFont>
    <p:embeddedFont>
      <p:font typeface="Merriweather" pitchFamily="2" charset="77"/>
      <p:regular r:id="rId62"/>
      <p:bold r:id="rId63"/>
      <p:italic r:id="rId64"/>
      <p:boldItalic r:id="rId65"/>
    </p:embeddedFont>
    <p:embeddedFont>
      <p:font typeface="Rubik" pitchFamily="2" charset="-79"/>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p:cViewPr varScale="1">
        <p:scale>
          <a:sx n="141" d="100"/>
          <a:sy n="141" d="100"/>
        </p:scale>
        <p:origin x="728"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bd17f942b5_0_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bd17f942b5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d17f942b5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d17f942b5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d17f942b5_0_9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d17f942b5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bd17f942b5_0_10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bd17f942b5_0_10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BTN is unusual because transmission occurs through waterborne cancer cells, which immediately raises questions about persistence, seasonality, and exposure pathways. These are things we can’t get from prevalence data alone and they require a mechanistic framework.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d97611b0d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d97611b0d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bd17f942b5_0_1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bd17f942b5_0_1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observe seasonality in the data and have alb evidence for temperature dependent mechanisms of the disease. With the lab data, we see two opposing seasonal mechanisms so identifying how the seasonality of the disease is shaped is a main focus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bd97611b0d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bd97611b0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c66016f6dd_0_4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c66016f6dd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looked at temperature effects in two key areas: cell survival and disease progression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d17f942b5_0_1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bd17f942b5_0_1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bd17f942b5_0_1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bd17f942b5_0_1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bd17f942b5_0_1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bd17f942b5_0_1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bd17f942b5_0_14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bd17f942b5_0_1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bd97611b0d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bd97611b0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bd97611b0d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bd97611b0d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bd97611b0d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bd97611b0d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bd97611b0d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bd97611b0d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the opposing seasonal mechanisms I mentioned earlier where temperature increases cell decay, but also increases disease progression likelihood.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bd17f942b5_0_1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bd17f942b5_0_1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are differences in these sites and we are not sure why there are differences.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c66016f6dd_0_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c66016f6dd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c66016f6dd_0_6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c66016f6dd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two sites show differently phased seasonal patterns, suggesting that a single shared seasonal mechanism may not describe both. Also, comparing the timing of the main seasonal effects to the model results can help us interpret how the model is picking up the seasonality in the data. So for Forest River we see the main seasonal point is in December with a smaller one in June.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bd17f942b5_0_1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bd17f942b5_0_1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bd17f942b5_0_14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bd17f942b5_0_1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bd17f942b5_0_14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bd17f942b5_0_1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model setup has two parts. First, I define prior distributions for each parameter based on laboratory data, which ensures that the rates remain biologically realistic. Second, I specify how the observed data relate to the underlying model. The SEI proportions predicted by the ODE model represent the true population-level state, but our field surveys are samples from that state, so I model SEI counts using a multinomial distribution. Similarly, the particle concentration predicted by the model is not observed directly; instead, we measure eDNA with error, so I model log eDNA as a noisy observation around the predicted value. Together, this framework connects biological mechanism to observed data while explicitly accounting for sampling and measurement noise.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bd17f942b5_0_14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bd17f942b5_0_1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Structural identifiability asks whether, in theory, the model parameters can be uniquely recovered from ideal, noise-free data. This allows us to distinguish between two possibilities: a structural flaw in the model versus limited information in the data. </a:t>
            </a:r>
            <a:br>
              <a:rPr lang="en"/>
            </a:br>
            <a:br>
              <a:rPr lang="en"/>
            </a:br>
            <a:r>
              <a:rPr lang="en"/>
              <a:t>The individual temperature coefficients are not uniquely identifiable on their own. However, the effective temperature-dependent rates β(T) and δ(T) are identifiable as functions. Since inference focuses on these functions, this does not limit interpretation.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bd97611b0d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bd97611b0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bd17f942b5_0_15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bd17f942b5_0_15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bd17f942b5_0_15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bd17f942b5_0_1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PPC - If the model were true, would it generate data that look like what we observed?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bd97611b0d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bd97611b0d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A posterior predictive check evaluates whether the model can generate data that resemble what we observed. The shaded region shows the range of values the model expects, accounting for both parameter uncertainty and sampling noise and the black points are the observed data. Most observed points fall within this range for all model variants, indicating that each model can reproduce the overall magnitude and variability of the data, which is a good diagnostic of the models. However, because all models perform similarly, PPC alone cannot distinguish the best fit model.</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bd97611b0d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bd97611b0d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bd97611b0d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bd97611b0d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bd97611b0d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bd97611b0d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bd97611b0d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bd97611b0d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bd17f942b5_0_1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bd17f942b5_0_1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bd17f942b5_0_1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bd17f942b5_0_1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bd17f942b5_0_16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bd17f942b5_0_1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goal was not to estimate biological spawning magnitude, but to assess whether the inclusion of a temporally localized input improves structural fit. Estimating amplitude would require independent data on spawning intensity.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bd17f942b5_0_16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bd17f942b5_0_16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bd97611b0d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bd97611b0d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Across sites, we see clear differences in seasonal structure. In FR, models with different temperature dependencies produce distinct seasonal behavior, and the data are informative enough to identify temperature-dependent progression as the dominant driver. In contrast, in PB, models 1 through 4 produce nearly identical trajectories when temperature dependence is not enforced, indicating that the seasonal mechanism is not identifiable at that site. This suggests that PB is governed by additional or different processes not captured by the current model, and therefore functions as a diagnostic site rather than a source of independent parameter inference.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bd17f942b5_0_16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3bd17f942b5_0_1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bd97611b0d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bd97611b0d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bd17f942b5_0_16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3bd17f942b5_0_1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bd17f942b5_0_16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bd17f942b5_0_1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c66016f6dd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c66016f6d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c66016f6dd_0_6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c66016f6dd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bd97611b0d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3bd97611b0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c66016f6dd_0_5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3c66016f6dd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c66016f6dd_0_6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3c66016f6dd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blank">
  <p:cSld name="CUSTOM">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53" name="Google Shape;53;p13"/>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317500" algn="r">
              <a:spcBef>
                <a:spcPts val="0"/>
              </a:spcBef>
              <a:spcAft>
                <a:spcPts val="0"/>
              </a:spcAft>
              <a:buClr>
                <a:schemeClr val="dk1"/>
              </a:buClr>
              <a:buSzPts val="14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1">
  <p:cSld name="TITLE_AND_BODY_1">
    <p:spTree>
      <p:nvGrpSpPr>
        <p:cNvPr id="1" name="Shape 54"/>
        <p:cNvGrpSpPr/>
        <p:nvPr/>
      </p:nvGrpSpPr>
      <p:grpSpPr>
        <a:xfrm>
          <a:off x="0" y="0"/>
          <a:ext cx="0" cy="0"/>
          <a:chOff x="0" y="0"/>
          <a:chExt cx="0" cy="0"/>
        </a:xfrm>
      </p:grpSpPr>
      <p:sp>
        <p:nvSpPr>
          <p:cNvPr id="55" name="Google Shape;5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4"/>
          <p:cNvSpPr txBox="1">
            <a:spLocks noGrp="1"/>
          </p:cNvSpPr>
          <p:nvPr>
            <p:ph type="subTitle" idx="1"/>
          </p:nvPr>
        </p:nvSpPr>
        <p:spPr>
          <a:xfrm>
            <a:off x="975300" y="1864050"/>
            <a:ext cx="7193400" cy="1415400"/>
          </a:xfrm>
          <a:prstGeom prst="rect">
            <a:avLst/>
          </a:prstGeom>
        </p:spPr>
        <p:txBody>
          <a:bodyPr spcFirstLastPara="1" wrap="square" lIns="91425" tIns="91425" rIns="91425" bIns="91425" anchor="ctr" anchorCtr="0">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a:endParaRPr/>
          </a:p>
        </p:txBody>
      </p:sp>
      <p:sp>
        <p:nvSpPr>
          <p:cNvPr id="57" name="Google Shape;57;p14"/>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58" name="Google Shape;58;p14"/>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317500" algn="r">
              <a:spcBef>
                <a:spcPts val="0"/>
              </a:spcBef>
              <a:spcAft>
                <a:spcPts val="0"/>
              </a:spcAft>
              <a:buClr>
                <a:schemeClr val="dk1"/>
              </a:buClr>
              <a:buSzPts val="14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body and image 1">
  <p:cSld name="TITLE_AND_TWO_COLUMNS_1">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1" name="Google Shape;61;p15"/>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Char char="●"/>
              <a:defRPr>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317500">
              <a:lnSpc>
                <a:spcPct val="100000"/>
              </a:lnSpc>
              <a:spcBef>
                <a:spcPts val="0"/>
              </a:spcBef>
              <a:spcAft>
                <a:spcPts val="0"/>
              </a:spcAft>
              <a:buClr>
                <a:schemeClr val="dk1"/>
              </a:buClr>
              <a:buSzPts val="1400"/>
              <a:buChar char="■"/>
              <a:defRPr>
                <a:solidFill>
                  <a:schemeClr val="dk1"/>
                </a:solidFill>
              </a:defRPr>
            </a:lvl3pPr>
            <a:lvl4pPr marL="1828800" lvl="3" indent="-317500">
              <a:lnSpc>
                <a:spcPct val="100000"/>
              </a:lnSpc>
              <a:spcBef>
                <a:spcPts val="0"/>
              </a:spcBef>
              <a:spcAft>
                <a:spcPts val="0"/>
              </a:spcAft>
              <a:buClr>
                <a:schemeClr val="dk1"/>
              </a:buClr>
              <a:buSzPts val="1400"/>
              <a:buChar char="●"/>
              <a:defRPr>
                <a:solidFill>
                  <a:schemeClr val="dk1"/>
                </a:solidFill>
              </a:defRPr>
            </a:lvl4pPr>
            <a:lvl5pPr marL="2286000" lvl="4" indent="-317500">
              <a:lnSpc>
                <a:spcPct val="100000"/>
              </a:lnSpc>
              <a:spcBef>
                <a:spcPts val="0"/>
              </a:spcBef>
              <a:spcAft>
                <a:spcPts val="0"/>
              </a:spcAft>
              <a:buClr>
                <a:schemeClr val="dk1"/>
              </a:buClr>
              <a:buSzPts val="1400"/>
              <a:buChar char="○"/>
              <a:defRPr>
                <a:solidFill>
                  <a:schemeClr val="dk1"/>
                </a:solidFill>
              </a:defRPr>
            </a:lvl5pPr>
            <a:lvl6pPr marL="2743200" lvl="5" indent="-317500">
              <a:lnSpc>
                <a:spcPct val="100000"/>
              </a:lnSpc>
              <a:spcBef>
                <a:spcPts val="0"/>
              </a:spcBef>
              <a:spcAft>
                <a:spcPts val="0"/>
              </a:spcAft>
              <a:buClr>
                <a:schemeClr val="dk1"/>
              </a:buClr>
              <a:buSzPts val="1400"/>
              <a:buChar char="■"/>
              <a:defRPr>
                <a:solidFill>
                  <a:schemeClr val="dk1"/>
                </a:solidFill>
              </a:defRPr>
            </a:lvl6pPr>
            <a:lvl7pPr marL="3200400" lvl="6" indent="-317500">
              <a:lnSpc>
                <a:spcPct val="100000"/>
              </a:lnSpc>
              <a:spcBef>
                <a:spcPts val="0"/>
              </a:spcBef>
              <a:spcAft>
                <a:spcPts val="0"/>
              </a:spcAft>
              <a:buClr>
                <a:schemeClr val="dk1"/>
              </a:buClr>
              <a:buSzPts val="1400"/>
              <a:buChar char="●"/>
              <a:defRPr>
                <a:solidFill>
                  <a:schemeClr val="dk1"/>
                </a:solidFill>
              </a:defRPr>
            </a:lvl7pPr>
            <a:lvl8pPr marL="3657600" lvl="7" indent="-317500">
              <a:lnSpc>
                <a:spcPct val="100000"/>
              </a:lnSpc>
              <a:spcBef>
                <a:spcPts val="0"/>
              </a:spcBef>
              <a:spcAft>
                <a:spcPts val="0"/>
              </a:spcAft>
              <a:buClr>
                <a:schemeClr val="dk1"/>
              </a:buClr>
              <a:buSzPts val="1400"/>
              <a:buChar char="○"/>
              <a:defRPr>
                <a:solidFill>
                  <a:schemeClr val="dk1"/>
                </a:solidFill>
              </a:defRPr>
            </a:lvl8pPr>
            <a:lvl9pPr marL="4114800" lvl="8" indent="-31750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62" name="Google Shape;6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3" name="Google Shape;63;p15"/>
          <p:cNvSpPr>
            <a:spLocks noGrp="1"/>
          </p:cNvSpPr>
          <p:nvPr>
            <p:ph type="pic" idx="2"/>
          </p:nvPr>
        </p:nvSpPr>
        <p:spPr>
          <a:xfrm>
            <a:off x="3726325" y="669925"/>
            <a:ext cx="5220900" cy="4276800"/>
          </a:xfrm>
          <a:prstGeom prst="round2DiagRect">
            <a:avLst>
              <a:gd name="adj1" fmla="val 16667"/>
              <a:gd name="adj2" fmla="val 0"/>
            </a:avLst>
          </a:prstGeom>
          <a:noFill/>
          <a:ln>
            <a:noFill/>
          </a:ln>
        </p:spPr>
        <p:txBody>
          <a:bodyPr/>
          <a:lstStyle/>
          <a:p>
            <a:endParaRPr lang="en-US"/>
          </a:p>
        </p:txBody>
      </p:sp>
      <p:sp>
        <p:nvSpPr>
          <p:cNvPr id="64" name="Google Shape;64;p15"/>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65" name="Google Shape;65;p15"/>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317500" algn="r">
              <a:spcBef>
                <a:spcPts val="0"/>
              </a:spcBef>
              <a:spcAft>
                <a:spcPts val="0"/>
              </a:spcAft>
              <a:buClr>
                <a:schemeClr val="dk1"/>
              </a:buClr>
              <a:buSzPts val="14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chart">
  <p:cSld name="SECTION_TITLE_AND_DESCRIPTION_1">
    <p:bg>
      <p:bgPr>
        <a:solidFill>
          <a:schemeClr val="lt2"/>
        </a:solidFill>
        <a:effectLst/>
      </p:bgPr>
    </p:bg>
    <p:spTree>
      <p:nvGrpSpPr>
        <p:cNvPr id="1" name="Shape 66"/>
        <p:cNvGrpSpPr/>
        <p:nvPr/>
      </p:nvGrpSpPr>
      <p:grpSpPr>
        <a:xfrm>
          <a:off x="0" y="0"/>
          <a:ext cx="0" cy="0"/>
          <a:chOff x="0" y="0"/>
          <a:chExt cx="0" cy="0"/>
        </a:xfrm>
      </p:grpSpPr>
      <p:sp>
        <p:nvSpPr>
          <p:cNvPr id="67" name="Google Shape;67;p16"/>
          <p:cNvSpPr/>
          <p:nvPr/>
        </p:nvSpPr>
        <p:spPr>
          <a:xfrm>
            <a:off x="4305000" y="-125"/>
            <a:ext cx="4839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 name="Google Shape;6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69" name="Google Shape;69;p16"/>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a:endParaRPr/>
          </a:p>
        </p:txBody>
      </p:sp>
      <p:sp>
        <p:nvSpPr>
          <p:cNvPr id="70" name="Google Shape;70;p16"/>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a:lvl1pPr>
            <a:lvl2pPr marL="914400" lvl="1" indent="-292100">
              <a:lnSpc>
                <a:spcPct val="100000"/>
              </a:lnSpc>
              <a:spcBef>
                <a:spcPts val="0"/>
              </a:spcBef>
              <a:spcAft>
                <a:spcPts val="0"/>
              </a:spcAft>
              <a:buSzPts val="1000"/>
              <a:buChar char="○"/>
              <a:defRPr sz="1000"/>
            </a:lvl2pPr>
            <a:lvl3pPr marL="1371600" lvl="2" indent="-317500">
              <a:lnSpc>
                <a:spcPct val="100000"/>
              </a:lnSpc>
              <a:spcBef>
                <a:spcPts val="0"/>
              </a:spcBef>
              <a:spcAft>
                <a:spcPts val="0"/>
              </a:spcAft>
              <a:buSzPts val="1400"/>
              <a:buChar char="■"/>
              <a:defRPr/>
            </a:lvl3pPr>
            <a:lvl4pPr marL="1828800" lvl="3" indent="-317500">
              <a:lnSpc>
                <a:spcPct val="100000"/>
              </a:lnSpc>
              <a:spcBef>
                <a:spcPts val="0"/>
              </a:spcBef>
              <a:spcAft>
                <a:spcPts val="0"/>
              </a:spcAft>
              <a:buSzPts val="1400"/>
              <a:buChar char="●"/>
              <a:defRPr/>
            </a:lvl4pPr>
            <a:lvl5pPr marL="2286000" lvl="4" indent="-317500">
              <a:lnSpc>
                <a:spcPct val="100000"/>
              </a:lnSpc>
              <a:spcBef>
                <a:spcPts val="0"/>
              </a:spcBef>
              <a:spcAft>
                <a:spcPts val="0"/>
              </a:spcAft>
              <a:buSzPts val="1400"/>
              <a:buChar char="○"/>
              <a:defRPr/>
            </a:lvl5pPr>
            <a:lvl6pPr marL="2743200" lvl="5" indent="-317500">
              <a:lnSpc>
                <a:spcPct val="100000"/>
              </a:lnSpc>
              <a:spcBef>
                <a:spcPts val="0"/>
              </a:spcBef>
              <a:spcAft>
                <a:spcPts val="0"/>
              </a:spcAft>
              <a:buSzPts val="1400"/>
              <a:buChar char="■"/>
              <a:defRPr/>
            </a:lvl6pPr>
            <a:lvl7pPr marL="3200400" lvl="6" indent="-317500">
              <a:lnSpc>
                <a:spcPct val="100000"/>
              </a:lnSpc>
              <a:spcBef>
                <a:spcPts val="0"/>
              </a:spcBef>
              <a:spcAft>
                <a:spcPts val="0"/>
              </a:spcAft>
              <a:buSzPts val="1400"/>
              <a:buChar char="●"/>
              <a:defRPr/>
            </a:lvl7pPr>
            <a:lvl8pPr marL="3657600" lvl="7" indent="-317500">
              <a:lnSpc>
                <a:spcPct val="100000"/>
              </a:lnSpc>
              <a:spcBef>
                <a:spcPts val="0"/>
              </a:spcBef>
              <a:spcAft>
                <a:spcPts val="0"/>
              </a:spcAft>
              <a:buSzPts val="1400"/>
              <a:buChar char="○"/>
              <a:defRPr/>
            </a:lvl8pPr>
            <a:lvl9pPr marL="4114800" lvl="8" indent="-317500">
              <a:lnSpc>
                <a:spcPct val="100000"/>
              </a:lnSpc>
              <a:spcBef>
                <a:spcPts val="0"/>
              </a:spcBef>
              <a:spcAft>
                <a:spcPts val="0"/>
              </a:spcAft>
              <a:buSzPts val="1400"/>
              <a:buChar char="■"/>
              <a:defRPr/>
            </a:lvl9pPr>
          </a:lstStyle>
          <a:p>
            <a:endParaRPr/>
          </a:p>
        </p:txBody>
      </p:sp>
      <p:sp>
        <p:nvSpPr>
          <p:cNvPr id="71" name="Google Shape;71;p16"/>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SzPts val="800"/>
              <a:buChar char="●"/>
              <a:defRPr sz="800"/>
            </a:lvl1pPr>
            <a:lvl2pPr marL="914400" lvl="1" indent="-317500">
              <a:spcBef>
                <a:spcPts val="0"/>
              </a:spcBef>
              <a:spcAft>
                <a:spcPts val="0"/>
              </a:spcAft>
              <a:buSzPts val="1400"/>
              <a:buChar char="○"/>
              <a:defRPr/>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72" name="Google Shape;72;p16"/>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317500" algn="r">
              <a:spcBef>
                <a:spcPts val="0"/>
              </a:spcBef>
              <a:spcAft>
                <a:spcPts val="0"/>
              </a:spcAft>
              <a:buClr>
                <a:schemeClr val="lt1"/>
              </a:buClr>
              <a:buSzPts val="14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8" Type="http://schemas.openxmlformats.org/officeDocument/2006/relationships/image" Target="../media/image46.jpg"/><Relationship Id="rId3" Type="http://schemas.openxmlformats.org/officeDocument/2006/relationships/image" Target="../media/image43.png"/><Relationship Id="rId7"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7.jp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ctrTitle"/>
          </p:nvPr>
        </p:nvSpPr>
        <p:spPr>
          <a:xfrm>
            <a:off x="311700" y="541425"/>
            <a:ext cx="5457900" cy="16296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2600"/>
              <a:t>A Bayesian framework to model temperature-dependent transmissible cancer dynamics within soft-shell clam (</a:t>
            </a:r>
            <a:r>
              <a:rPr lang="en" sz="2600" i="1"/>
              <a:t>Mya arenaria</a:t>
            </a:r>
            <a:r>
              <a:rPr lang="en" sz="2600"/>
              <a:t>) populations</a:t>
            </a:r>
            <a:endParaRPr sz="2600"/>
          </a:p>
        </p:txBody>
      </p:sp>
      <p:sp>
        <p:nvSpPr>
          <p:cNvPr id="78" name="Google Shape;78;p17"/>
          <p:cNvSpPr txBox="1">
            <a:spLocks noGrp="1"/>
          </p:cNvSpPr>
          <p:nvPr>
            <p:ph type="subTitle" idx="1"/>
          </p:nvPr>
        </p:nvSpPr>
        <p:spPr>
          <a:xfrm>
            <a:off x="311700" y="2735725"/>
            <a:ext cx="5457900" cy="1119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t>Carissa Mayo</a:t>
            </a:r>
            <a:endParaRPr sz="1400"/>
          </a:p>
          <a:p>
            <a:pPr marL="0" lvl="0" indent="0" algn="l" rtl="0">
              <a:lnSpc>
                <a:spcPct val="115000"/>
              </a:lnSpc>
              <a:spcBef>
                <a:spcPts val="0"/>
              </a:spcBef>
              <a:spcAft>
                <a:spcPts val="0"/>
              </a:spcAft>
              <a:buNone/>
            </a:pPr>
            <a:r>
              <a:rPr lang="en" sz="1400"/>
              <a:t>University of Washington</a:t>
            </a:r>
            <a:endParaRPr sz="1400"/>
          </a:p>
          <a:p>
            <a:pPr marL="0" lvl="0" indent="0" algn="l" rtl="0">
              <a:lnSpc>
                <a:spcPct val="115000"/>
              </a:lnSpc>
              <a:spcBef>
                <a:spcPts val="0"/>
              </a:spcBef>
              <a:spcAft>
                <a:spcPts val="0"/>
              </a:spcAft>
              <a:buNone/>
            </a:pPr>
            <a:r>
              <a:rPr lang="en" sz="1400"/>
              <a:t>Quantitative Ecology and Resource Management</a:t>
            </a:r>
            <a:endParaRPr sz="1400"/>
          </a:p>
          <a:p>
            <a:pPr marL="0" lvl="0" indent="0" algn="l" rtl="0">
              <a:lnSpc>
                <a:spcPct val="115000"/>
              </a:lnSpc>
              <a:spcBef>
                <a:spcPts val="0"/>
              </a:spcBef>
              <a:spcAft>
                <a:spcPts val="0"/>
              </a:spcAft>
              <a:buNone/>
            </a:pPr>
            <a:r>
              <a:rPr lang="en" sz="1400"/>
              <a:t>Dr. Michael Metzger</a:t>
            </a:r>
            <a:endParaRPr sz="1400"/>
          </a:p>
        </p:txBody>
      </p:sp>
      <p:pic>
        <p:nvPicPr>
          <p:cNvPr id="79" name="Google Shape;79;p17" title="P1040959.JPG"/>
          <p:cNvPicPr preferRelativeResize="0">
            <a:picLocks noGrp="1"/>
          </p:cNvPicPr>
          <p:nvPr>
            <p:ph type="pic" idx="2"/>
          </p:nvPr>
        </p:nvPicPr>
        <p:blipFill rotWithShape="1">
          <a:blip r:embed="rId3">
            <a:alphaModFix/>
          </a:blip>
          <a:srcRect b="19846"/>
          <a:stretch/>
        </p:blipFill>
        <p:spPr>
          <a:xfrm>
            <a:off x="6011175" y="450775"/>
            <a:ext cx="2691702" cy="2876851"/>
          </a:xfrm>
          <a:prstGeom prst="rect">
            <a:avLst/>
          </a:prstGeom>
          <a:noFill/>
          <a:ln>
            <a:noFill/>
          </a:ln>
        </p:spPr>
      </p:pic>
      <p:cxnSp>
        <p:nvCxnSpPr>
          <p:cNvPr id="80" name="Google Shape;80;p17"/>
          <p:cNvCxnSpPr/>
          <p:nvPr/>
        </p:nvCxnSpPr>
        <p:spPr>
          <a:xfrm>
            <a:off x="311700" y="2486775"/>
            <a:ext cx="5162700" cy="0"/>
          </a:xfrm>
          <a:prstGeom prst="straightConnector1">
            <a:avLst/>
          </a:prstGeom>
          <a:noFill/>
          <a:ln w="9525" cap="flat" cmpd="sng">
            <a:solidFill>
              <a:schemeClr val="dk2"/>
            </a:solidFill>
            <a:prstDash val="solid"/>
            <a:round/>
            <a:headEnd type="none" w="med" len="med"/>
            <a:tailEnd type="none" w="med" len="med"/>
          </a:ln>
        </p:spPr>
      </p:cxnSp>
      <p:sp>
        <p:nvSpPr>
          <p:cNvPr id="81" name="Google Shape;81;p17"/>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7"/>
          <p:cNvSpPr txBox="1"/>
          <p:nvPr/>
        </p:nvSpPr>
        <p:spPr>
          <a:xfrm>
            <a:off x="7891800" y="4714125"/>
            <a:ext cx="1252200" cy="35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rPr>
              <a:t>March 03, 2026</a:t>
            </a:r>
            <a:endParaRPr sz="1200">
              <a:solidFill>
                <a:schemeClr val="lt1"/>
              </a:solidFill>
            </a:endParaRPr>
          </a:p>
        </p:txBody>
      </p:sp>
      <p:sp>
        <p:nvSpPr>
          <p:cNvPr id="83" name="Google Shape;83;p17"/>
          <p:cNvSpPr txBox="1"/>
          <p:nvPr/>
        </p:nvSpPr>
        <p:spPr>
          <a:xfrm>
            <a:off x="0" y="4714125"/>
            <a:ext cx="1681800" cy="35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rPr>
              <a:t>M.S. Thesis Defense</a:t>
            </a:r>
            <a:endParaRPr sz="1200">
              <a:solidFill>
                <a:schemeClr val="lt1"/>
              </a:solidFill>
            </a:endParaRPr>
          </a:p>
        </p:txBody>
      </p:sp>
      <p:pic>
        <p:nvPicPr>
          <p:cNvPr id="84" name="Google Shape;84;p17"/>
          <p:cNvPicPr preferRelativeResize="0"/>
          <p:nvPr/>
        </p:nvPicPr>
        <p:blipFill>
          <a:blip r:embed="rId4">
            <a:alphaModFix/>
          </a:blip>
          <a:stretch>
            <a:fillRect/>
          </a:stretch>
        </p:blipFill>
        <p:spPr>
          <a:xfrm>
            <a:off x="7589675" y="3679803"/>
            <a:ext cx="1363675" cy="610597"/>
          </a:xfrm>
          <a:prstGeom prst="rect">
            <a:avLst/>
          </a:prstGeom>
          <a:noFill/>
          <a:ln>
            <a:noFill/>
          </a:ln>
        </p:spPr>
      </p:pic>
      <p:pic>
        <p:nvPicPr>
          <p:cNvPr id="85" name="Google Shape;85;p17"/>
          <p:cNvPicPr preferRelativeResize="0"/>
          <p:nvPr/>
        </p:nvPicPr>
        <p:blipFill>
          <a:blip r:embed="rId5">
            <a:alphaModFix/>
          </a:blip>
          <a:stretch>
            <a:fillRect/>
          </a:stretch>
        </p:blipFill>
        <p:spPr>
          <a:xfrm>
            <a:off x="5769601" y="3649650"/>
            <a:ext cx="1363675" cy="670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a:t>
            </a:fld>
            <a:endParaRPr>
              <a:solidFill>
                <a:schemeClr val="lt1"/>
              </a:solidFill>
            </a:endParaRPr>
          </a:p>
        </p:txBody>
      </p:sp>
      <p:sp>
        <p:nvSpPr>
          <p:cNvPr id="92" name="Google Shape;92;p18"/>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Agenda</a:t>
            </a:r>
            <a:endParaRPr/>
          </a:p>
        </p:txBody>
      </p:sp>
      <p:sp>
        <p:nvSpPr>
          <p:cNvPr id="93" name="Google Shape;93;p18"/>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a:t>M.S. Defense</a:t>
            </a:r>
            <a:endParaRPr/>
          </a:p>
        </p:txBody>
      </p:sp>
      <p:sp>
        <p:nvSpPr>
          <p:cNvPr id="94" name="Google Shape;94;p18"/>
          <p:cNvSpPr txBox="1"/>
          <p:nvPr/>
        </p:nvSpPr>
        <p:spPr>
          <a:xfrm>
            <a:off x="516425" y="883349"/>
            <a:ext cx="7043700" cy="3376800"/>
          </a:xfrm>
          <a:prstGeom prst="rect">
            <a:avLst/>
          </a:prstGeom>
          <a:noFill/>
          <a:ln>
            <a:noFill/>
          </a:ln>
        </p:spPr>
        <p:txBody>
          <a:bodyPr spcFirstLastPara="1" wrap="square" lIns="91425" tIns="91425" rIns="91425" bIns="91425" anchor="ctr" anchorCtr="0">
            <a:noAutofit/>
          </a:bodyPr>
          <a:lstStyle/>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Introduction</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Research Goals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Methods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Results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Conclusions</a:t>
            </a:r>
            <a:endParaRPr sz="2400" b="1">
              <a:solidFill>
                <a:schemeClr val="dk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 name="Google Shape;10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a:t>
            </a:fld>
            <a:endParaRPr>
              <a:solidFill>
                <a:schemeClr val="lt1"/>
              </a:solidFill>
            </a:endParaRPr>
          </a:p>
        </p:txBody>
      </p:sp>
      <p:sp>
        <p:nvSpPr>
          <p:cNvPr id="101" name="Google Shape;101;p19"/>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Introduction</a:t>
            </a:r>
            <a:endParaRPr/>
          </a:p>
        </p:txBody>
      </p:sp>
      <p:sp>
        <p:nvSpPr>
          <p:cNvPr id="102" name="Google Shape;102;p1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103" name="Google Shape;103;p19"/>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Natural Transmissible Cancers</a:t>
            </a:r>
            <a:endParaRPr sz="3561"/>
          </a:p>
        </p:txBody>
      </p:sp>
      <p:grpSp>
        <p:nvGrpSpPr>
          <p:cNvPr id="104" name="Google Shape;104;p19"/>
          <p:cNvGrpSpPr/>
          <p:nvPr/>
        </p:nvGrpSpPr>
        <p:grpSpPr>
          <a:xfrm>
            <a:off x="230088" y="1342264"/>
            <a:ext cx="8683800" cy="3169798"/>
            <a:chOff x="228600" y="1442100"/>
            <a:chExt cx="8683800" cy="2259300"/>
          </a:xfrm>
        </p:grpSpPr>
        <p:sp>
          <p:nvSpPr>
            <p:cNvPr id="105" name="Google Shape;105;p19"/>
            <p:cNvSpPr/>
            <p:nvPr/>
          </p:nvSpPr>
          <p:spPr>
            <a:xfrm>
              <a:off x="228600" y="1442100"/>
              <a:ext cx="2819400" cy="2259300"/>
            </a:xfrm>
            <a:prstGeom prst="roundRect">
              <a:avLst>
                <a:gd name="adj" fmla="val 691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9"/>
            <p:cNvSpPr/>
            <p:nvPr/>
          </p:nvSpPr>
          <p:spPr>
            <a:xfrm>
              <a:off x="3163800" y="1442100"/>
              <a:ext cx="2816400" cy="2259300"/>
            </a:xfrm>
            <a:prstGeom prst="roundRect">
              <a:avLst>
                <a:gd name="adj" fmla="val 691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7" name="Google Shape;107;p19"/>
            <p:cNvSpPr/>
            <p:nvPr/>
          </p:nvSpPr>
          <p:spPr>
            <a:xfrm>
              <a:off x="6096000" y="1442100"/>
              <a:ext cx="2816400" cy="2259300"/>
            </a:xfrm>
            <a:prstGeom prst="roundRect">
              <a:avLst>
                <a:gd name="adj" fmla="val 691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8" name="Google Shape;108;p19"/>
            <p:cNvSpPr txBox="1"/>
            <p:nvPr/>
          </p:nvSpPr>
          <p:spPr>
            <a:xfrm>
              <a:off x="361800" y="2861862"/>
              <a:ext cx="2550000" cy="651000"/>
            </a:xfrm>
            <a:prstGeom prst="rect">
              <a:avLst/>
            </a:prstGeom>
            <a:noFill/>
            <a:ln>
              <a:noFill/>
            </a:ln>
          </p:spPr>
          <p:txBody>
            <a:bodyPr spcFirstLastPara="1" wrap="square" lIns="0" tIns="0" rIns="0" bIns="0" anchor="t" anchorCtr="0">
              <a:noAutofit/>
            </a:bodyPr>
            <a:lstStyle/>
            <a:p>
              <a:pPr marL="457200" marR="0" lvl="0" indent="-317500" algn="l" rtl="0">
                <a:lnSpc>
                  <a:spcPct val="100000"/>
                </a:lnSpc>
                <a:spcBef>
                  <a:spcPts val="0"/>
                </a:spcBef>
                <a:spcAft>
                  <a:spcPts val="0"/>
                </a:spcAft>
                <a:buSzPts val="1400"/>
                <a:buChar char="●"/>
              </a:pPr>
              <a:r>
                <a:rPr lang="en"/>
                <a:t>Transmitted through biting</a:t>
              </a:r>
              <a:endParaRPr/>
            </a:p>
            <a:p>
              <a:pPr marL="457200" marR="0" lvl="0" indent="-317500" algn="l" rtl="0">
                <a:lnSpc>
                  <a:spcPct val="100000"/>
                </a:lnSpc>
                <a:spcBef>
                  <a:spcPts val="0"/>
                </a:spcBef>
                <a:spcAft>
                  <a:spcPts val="0"/>
                </a:spcAft>
                <a:buSzPts val="1400"/>
                <a:buChar char="●"/>
              </a:pPr>
              <a:r>
                <a:rPr lang="en"/>
                <a:t>~ 40 years old</a:t>
              </a:r>
              <a:endParaRPr/>
            </a:p>
            <a:p>
              <a:pPr marL="457200" marR="0" lvl="0" indent="-317500" algn="l" rtl="0">
                <a:lnSpc>
                  <a:spcPct val="100000"/>
                </a:lnSpc>
                <a:spcBef>
                  <a:spcPts val="0"/>
                </a:spcBef>
                <a:spcAft>
                  <a:spcPts val="0"/>
                </a:spcAft>
                <a:buSzPts val="1400"/>
                <a:buChar char="●"/>
              </a:pPr>
              <a:r>
                <a:rPr lang="en"/>
                <a:t>Two lineages</a:t>
              </a:r>
              <a:endParaRPr/>
            </a:p>
            <a:p>
              <a:pPr marL="457200" marR="0" lvl="0" indent="-317500" algn="l" rtl="0">
                <a:lnSpc>
                  <a:spcPct val="100000"/>
                </a:lnSpc>
                <a:spcBef>
                  <a:spcPts val="0"/>
                </a:spcBef>
                <a:spcAft>
                  <a:spcPts val="0"/>
                </a:spcAft>
                <a:buSzPts val="1400"/>
                <a:buChar char="●"/>
              </a:pPr>
              <a:r>
                <a:rPr lang="en"/>
                <a:t>Almost always lethal</a:t>
              </a:r>
              <a:endParaRPr>
                <a:solidFill>
                  <a:srgbClr val="595959"/>
                </a:solidFill>
              </a:endParaRPr>
            </a:p>
            <a:p>
              <a:pPr marL="0" lvl="0" indent="0" algn="l" rtl="0">
                <a:spcBef>
                  <a:spcPts val="0"/>
                </a:spcBef>
                <a:spcAft>
                  <a:spcPts val="0"/>
                </a:spcAft>
                <a:buNone/>
              </a:pPr>
              <a:endParaRPr/>
            </a:p>
          </p:txBody>
        </p:sp>
        <p:sp>
          <p:nvSpPr>
            <p:cNvPr id="109" name="Google Shape;109;p19"/>
            <p:cNvSpPr txBox="1"/>
            <p:nvPr/>
          </p:nvSpPr>
          <p:spPr>
            <a:xfrm>
              <a:off x="364050" y="2399657"/>
              <a:ext cx="2550000" cy="467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SzPts val="935"/>
                <a:buNone/>
              </a:pPr>
              <a:r>
                <a:rPr lang="en" sz="1640" b="1"/>
                <a:t>Tasmanian Devil Facial Tumor Disease (DFTD)</a:t>
              </a:r>
              <a:endParaRPr sz="1640" b="1"/>
            </a:p>
          </p:txBody>
        </p:sp>
        <p:sp>
          <p:nvSpPr>
            <p:cNvPr id="110" name="Google Shape;110;p19"/>
            <p:cNvSpPr txBox="1"/>
            <p:nvPr/>
          </p:nvSpPr>
          <p:spPr>
            <a:xfrm>
              <a:off x="3295500" y="2861862"/>
              <a:ext cx="2550000" cy="651000"/>
            </a:xfrm>
            <a:prstGeom prst="rect">
              <a:avLst/>
            </a:prstGeom>
            <a:noFill/>
            <a:ln>
              <a:noFill/>
            </a:ln>
          </p:spPr>
          <p:txBody>
            <a:bodyPr spcFirstLastPara="1" wrap="square" lIns="0" tIns="0" rIns="0" bIns="0" anchor="t" anchorCtr="0">
              <a:noAutofit/>
            </a:bodyPr>
            <a:lstStyle/>
            <a:p>
              <a:pPr marL="457200" marR="0" lvl="0" indent="-317500" algn="l" rtl="0">
                <a:lnSpc>
                  <a:spcPct val="100000"/>
                </a:lnSpc>
                <a:spcBef>
                  <a:spcPts val="0"/>
                </a:spcBef>
                <a:spcAft>
                  <a:spcPts val="0"/>
                </a:spcAft>
                <a:buSzPts val="1400"/>
                <a:buChar char="●"/>
              </a:pPr>
              <a:r>
                <a:rPr lang="en"/>
                <a:t>Transmitted sexually</a:t>
              </a:r>
              <a:endParaRPr/>
            </a:p>
            <a:p>
              <a:pPr marL="457200" marR="0" lvl="0" indent="-317500" algn="l" rtl="0">
                <a:lnSpc>
                  <a:spcPct val="100000"/>
                </a:lnSpc>
                <a:spcBef>
                  <a:spcPts val="0"/>
                </a:spcBef>
                <a:spcAft>
                  <a:spcPts val="0"/>
                </a:spcAft>
                <a:buSzPts val="1400"/>
                <a:buChar char="●"/>
              </a:pPr>
              <a:r>
                <a:rPr lang="en"/>
                <a:t>4000 - 6000 years old</a:t>
              </a:r>
              <a:endParaRPr/>
            </a:p>
            <a:p>
              <a:pPr marL="457200" marR="0" lvl="0" indent="-317500" algn="l" rtl="0">
                <a:lnSpc>
                  <a:spcPct val="100000"/>
                </a:lnSpc>
                <a:spcBef>
                  <a:spcPts val="0"/>
                </a:spcBef>
                <a:spcAft>
                  <a:spcPts val="0"/>
                </a:spcAft>
                <a:buSzPts val="1400"/>
                <a:buChar char="●"/>
              </a:pPr>
              <a:r>
                <a:rPr lang="en"/>
                <a:t>Mostly harmless</a:t>
              </a:r>
              <a:endParaRPr>
                <a:solidFill>
                  <a:srgbClr val="595959"/>
                </a:solidFill>
              </a:endParaRPr>
            </a:p>
            <a:p>
              <a:pPr marL="0" lvl="0" indent="0" algn="l" rtl="0">
                <a:spcBef>
                  <a:spcPts val="0"/>
                </a:spcBef>
                <a:spcAft>
                  <a:spcPts val="0"/>
                </a:spcAft>
                <a:buNone/>
              </a:pPr>
              <a:endParaRPr/>
            </a:p>
          </p:txBody>
        </p:sp>
        <p:sp>
          <p:nvSpPr>
            <p:cNvPr id="111" name="Google Shape;111;p19"/>
            <p:cNvSpPr txBox="1"/>
            <p:nvPr/>
          </p:nvSpPr>
          <p:spPr>
            <a:xfrm>
              <a:off x="3297750" y="2399657"/>
              <a:ext cx="2550000" cy="467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600" b="1"/>
                <a:t>Canine Transmissible Venereal Tumor (CTVT)</a:t>
              </a:r>
              <a:endParaRPr sz="1600" b="1"/>
            </a:p>
          </p:txBody>
        </p:sp>
        <p:sp>
          <p:nvSpPr>
            <p:cNvPr id="112" name="Google Shape;112;p19"/>
            <p:cNvSpPr txBox="1"/>
            <p:nvPr/>
          </p:nvSpPr>
          <p:spPr>
            <a:xfrm>
              <a:off x="6227700" y="2862027"/>
              <a:ext cx="2550000" cy="774000"/>
            </a:xfrm>
            <a:prstGeom prst="rect">
              <a:avLst/>
            </a:prstGeom>
            <a:noFill/>
            <a:ln>
              <a:noFill/>
            </a:ln>
          </p:spPr>
          <p:txBody>
            <a:bodyPr spcFirstLastPara="1" wrap="square" lIns="0" tIns="0" rIns="0" bIns="0" anchor="t" anchorCtr="0">
              <a:noAutofit/>
            </a:bodyPr>
            <a:lstStyle/>
            <a:p>
              <a:pPr marL="457200" marR="0" lvl="0" indent="-317500" algn="l" rtl="0">
                <a:lnSpc>
                  <a:spcPct val="100000"/>
                </a:lnSpc>
                <a:spcBef>
                  <a:spcPts val="0"/>
                </a:spcBef>
                <a:spcAft>
                  <a:spcPts val="0"/>
                </a:spcAft>
                <a:buSzPts val="1400"/>
                <a:buChar char="●"/>
              </a:pPr>
              <a:r>
                <a:rPr lang="en"/>
                <a:t>Not transmitted through contact</a:t>
              </a:r>
              <a:endParaRPr/>
            </a:p>
            <a:p>
              <a:pPr marL="457200" marR="0" lvl="0" indent="-317500" algn="l" rtl="0">
                <a:lnSpc>
                  <a:spcPct val="100000"/>
                </a:lnSpc>
                <a:spcBef>
                  <a:spcPts val="0"/>
                </a:spcBef>
                <a:spcAft>
                  <a:spcPts val="0"/>
                </a:spcAft>
                <a:buSzPts val="1400"/>
                <a:buChar char="●"/>
              </a:pPr>
              <a:r>
                <a:rPr lang="en"/>
                <a:t>~ 400 years old</a:t>
              </a:r>
              <a:endParaRPr/>
            </a:p>
            <a:p>
              <a:pPr marL="457200" marR="0" lvl="0" indent="-317500" algn="l" rtl="0">
                <a:lnSpc>
                  <a:spcPct val="100000"/>
                </a:lnSpc>
                <a:spcBef>
                  <a:spcPts val="0"/>
                </a:spcBef>
                <a:spcAft>
                  <a:spcPts val="0"/>
                </a:spcAft>
                <a:buSzPts val="1400"/>
                <a:buChar char="●"/>
              </a:pPr>
              <a:r>
                <a:rPr lang="en"/>
                <a:t>Many lineages</a:t>
              </a:r>
              <a:endParaRPr/>
            </a:p>
            <a:p>
              <a:pPr marL="457200" marR="0" lvl="0" indent="-317500" algn="l" rtl="0">
                <a:lnSpc>
                  <a:spcPct val="100000"/>
                </a:lnSpc>
                <a:spcBef>
                  <a:spcPts val="0"/>
                </a:spcBef>
                <a:spcAft>
                  <a:spcPts val="0"/>
                </a:spcAft>
                <a:buSzPts val="1400"/>
                <a:buChar char="●"/>
              </a:pPr>
              <a:r>
                <a:rPr lang="en"/>
                <a:t>Reported to be lethal</a:t>
              </a:r>
              <a:endParaRPr/>
            </a:p>
          </p:txBody>
        </p:sp>
        <p:sp>
          <p:nvSpPr>
            <p:cNvPr id="113" name="Google Shape;113;p19"/>
            <p:cNvSpPr txBox="1"/>
            <p:nvPr/>
          </p:nvSpPr>
          <p:spPr>
            <a:xfrm>
              <a:off x="6229950" y="2399658"/>
              <a:ext cx="2550000" cy="467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600" b="1"/>
                <a:t>Bivalve Transmissible Neoplasia (BTN)</a:t>
              </a:r>
              <a:endParaRPr sz="1600" b="1"/>
            </a:p>
          </p:txBody>
        </p:sp>
      </p:grpSp>
      <p:pic>
        <p:nvPicPr>
          <p:cNvPr id="114" name="Google Shape;114;p19" title="Carissa's First Illustration.png"/>
          <p:cNvPicPr preferRelativeResize="0"/>
          <p:nvPr/>
        </p:nvPicPr>
        <p:blipFill rotWithShape="1">
          <a:blip r:embed="rId3">
            <a:alphaModFix/>
          </a:blip>
          <a:srcRect b="20521"/>
          <a:stretch/>
        </p:blipFill>
        <p:spPr>
          <a:xfrm>
            <a:off x="730425" y="1465336"/>
            <a:ext cx="2087275" cy="1244157"/>
          </a:xfrm>
          <a:prstGeom prst="rect">
            <a:avLst/>
          </a:prstGeom>
          <a:noFill/>
          <a:ln>
            <a:noFill/>
          </a:ln>
        </p:spPr>
      </p:pic>
      <p:pic>
        <p:nvPicPr>
          <p:cNvPr id="115" name="Google Shape;115;p19" title="canine.png"/>
          <p:cNvPicPr preferRelativeResize="0"/>
          <p:nvPr/>
        </p:nvPicPr>
        <p:blipFill>
          <a:blip r:embed="rId4">
            <a:alphaModFix/>
          </a:blip>
          <a:stretch>
            <a:fillRect/>
          </a:stretch>
        </p:blipFill>
        <p:spPr>
          <a:xfrm>
            <a:off x="3749700" y="1390251"/>
            <a:ext cx="1859099" cy="1394325"/>
          </a:xfrm>
          <a:prstGeom prst="rect">
            <a:avLst/>
          </a:prstGeom>
          <a:noFill/>
          <a:ln>
            <a:noFill/>
          </a:ln>
        </p:spPr>
      </p:pic>
      <p:pic>
        <p:nvPicPr>
          <p:cNvPr id="116" name="Google Shape;116;p19" title="bivalves.png"/>
          <p:cNvPicPr preferRelativeResize="0"/>
          <p:nvPr/>
        </p:nvPicPr>
        <p:blipFill rotWithShape="1">
          <a:blip r:embed="rId5">
            <a:alphaModFix/>
          </a:blip>
          <a:srcRect t="7990" b="16628"/>
          <a:stretch/>
        </p:blipFill>
        <p:spPr>
          <a:xfrm>
            <a:off x="6540800" y="1390249"/>
            <a:ext cx="2200810" cy="12441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4</a:t>
            </a:fld>
            <a:endParaRPr>
              <a:solidFill>
                <a:schemeClr val="lt1"/>
              </a:solidFill>
            </a:endParaRPr>
          </a:p>
        </p:txBody>
      </p:sp>
      <p:sp>
        <p:nvSpPr>
          <p:cNvPr id="123" name="Google Shape;123;p20"/>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Introduction</a:t>
            </a:r>
            <a:endParaRPr/>
          </a:p>
        </p:txBody>
      </p:sp>
      <p:sp>
        <p:nvSpPr>
          <p:cNvPr id="124" name="Google Shape;124;p2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125" name="Google Shape;125;p20"/>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BTN</a:t>
            </a:r>
            <a:endParaRPr sz="3561"/>
          </a:p>
        </p:txBody>
      </p:sp>
      <p:pic>
        <p:nvPicPr>
          <p:cNvPr id="126" name="Google Shape;126;p20"/>
          <p:cNvPicPr preferRelativeResize="0"/>
          <p:nvPr/>
        </p:nvPicPr>
        <p:blipFill>
          <a:blip r:embed="rId3">
            <a:alphaModFix/>
          </a:blip>
          <a:stretch>
            <a:fillRect/>
          </a:stretch>
        </p:blipFill>
        <p:spPr>
          <a:xfrm rot="-1163390">
            <a:off x="1628923" y="2772956"/>
            <a:ext cx="1429581" cy="1592963"/>
          </a:xfrm>
          <a:prstGeom prst="rect">
            <a:avLst/>
          </a:prstGeom>
          <a:noFill/>
          <a:ln>
            <a:noFill/>
          </a:ln>
        </p:spPr>
      </p:pic>
      <p:pic>
        <p:nvPicPr>
          <p:cNvPr id="127" name="Google Shape;127;p20"/>
          <p:cNvPicPr preferRelativeResize="0"/>
          <p:nvPr/>
        </p:nvPicPr>
        <p:blipFill>
          <a:blip r:embed="rId4">
            <a:alphaModFix/>
          </a:blip>
          <a:stretch>
            <a:fillRect/>
          </a:stretch>
        </p:blipFill>
        <p:spPr>
          <a:xfrm>
            <a:off x="4994913" y="2859297"/>
            <a:ext cx="3082575" cy="1822650"/>
          </a:xfrm>
          <a:prstGeom prst="rect">
            <a:avLst/>
          </a:prstGeom>
          <a:noFill/>
          <a:ln>
            <a:noFill/>
          </a:ln>
        </p:spPr>
      </p:pic>
      <p:sp>
        <p:nvSpPr>
          <p:cNvPr id="128" name="Google Shape;128;p20"/>
          <p:cNvSpPr txBox="1"/>
          <p:nvPr/>
        </p:nvSpPr>
        <p:spPr>
          <a:xfrm>
            <a:off x="1405050" y="4174953"/>
            <a:ext cx="2419500" cy="369300"/>
          </a:xfrm>
          <a:prstGeom prst="rect">
            <a:avLst/>
          </a:prstGeom>
          <a:noFill/>
          <a:ln>
            <a:noFill/>
          </a:ln>
        </p:spPr>
        <p:txBody>
          <a:bodyPr spcFirstLastPara="1" wrap="square" lIns="91425" tIns="91425" rIns="91425" bIns="91425" anchor="t" anchorCtr="0">
            <a:spAutoFit/>
          </a:bodyPr>
          <a:lstStyle/>
          <a:p>
            <a:pPr marL="0" lvl="0" indent="0" algn="l" rtl="0">
              <a:lnSpc>
                <a:spcPct val="125454"/>
              </a:lnSpc>
              <a:spcBef>
                <a:spcPts val="1200"/>
              </a:spcBef>
              <a:spcAft>
                <a:spcPts val="1200"/>
              </a:spcAft>
              <a:buNone/>
            </a:pPr>
            <a:r>
              <a:rPr lang="en" sz="1200"/>
              <a:t>Soft-shell clam (</a:t>
            </a:r>
            <a:r>
              <a:rPr lang="en" sz="1200" i="1"/>
              <a:t>Mya arenaria</a:t>
            </a:r>
            <a:r>
              <a:rPr lang="en" sz="1200"/>
              <a:t>)</a:t>
            </a:r>
            <a:endParaRPr sz="1200"/>
          </a:p>
        </p:txBody>
      </p:sp>
      <p:sp>
        <p:nvSpPr>
          <p:cNvPr id="129" name="Google Shape;129;p20"/>
          <p:cNvSpPr txBox="1"/>
          <p:nvPr/>
        </p:nvSpPr>
        <p:spPr>
          <a:xfrm>
            <a:off x="196950" y="1331375"/>
            <a:ext cx="6890700" cy="14817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SzPts val="1400"/>
              <a:buChar char="●"/>
            </a:pPr>
            <a:r>
              <a:rPr lang="en"/>
              <a:t>Spreads through waterborne cancer cells</a:t>
            </a:r>
            <a:endParaRPr/>
          </a:p>
          <a:p>
            <a:pPr marL="457200" marR="0" lvl="0" indent="-317500" algn="l" rtl="0">
              <a:lnSpc>
                <a:spcPct val="125454"/>
              </a:lnSpc>
              <a:spcBef>
                <a:spcPts val="0"/>
              </a:spcBef>
              <a:spcAft>
                <a:spcPts val="0"/>
              </a:spcAft>
              <a:buSzPts val="1400"/>
              <a:buChar char="●"/>
            </a:pPr>
            <a:r>
              <a:rPr lang="en"/>
              <a:t>Leukemia-like cancer classified as transmissible in 2015</a:t>
            </a:r>
            <a:endParaRPr/>
          </a:p>
          <a:p>
            <a:pPr marL="457200" marR="0" lvl="0" indent="-317500" algn="l" rtl="0">
              <a:lnSpc>
                <a:spcPct val="125454"/>
              </a:lnSpc>
              <a:spcBef>
                <a:spcPts val="0"/>
              </a:spcBef>
              <a:spcAft>
                <a:spcPts val="0"/>
              </a:spcAft>
              <a:buSzPts val="1400"/>
              <a:buChar char="●"/>
            </a:pPr>
            <a:r>
              <a:rPr lang="en"/>
              <a:t>Found most notably in the hemolymph (invertebrate blood-like fluid)</a:t>
            </a:r>
            <a:endParaRPr/>
          </a:p>
          <a:p>
            <a:pPr marL="457200" marR="0" lvl="0" indent="-317500" algn="l" rtl="0">
              <a:lnSpc>
                <a:spcPct val="125454"/>
              </a:lnSpc>
              <a:spcBef>
                <a:spcPts val="0"/>
              </a:spcBef>
              <a:spcAft>
                <a:spcPts val="0"/>
              </a:spcAft>
              <a:buSzPts val="1400"/>
              <a:buChar char="●"/>
            </a:pPr>
            <a:r>
              <a:rPr lang="en"/>
              <a:t>Neoplastic cells infiltrate into tissues in later stages of disease</a:t>
            </a:r>
            <a:endParaRPr/>
          </a:p>
          <a:p>
            <a:pPr marL="457200" marR="0" lvl="0" indent="-317500" algn="l" rtl="0">
              <a:lnSpc>
                <a:spcPct val="125454"/>
              </a:lnSpc>
              <a:spcBef>
                <a:spcPts val="0"/>
              </a:spcBef>
              <a:spcAft>
                <a:spcPts val="0"/>
              </a:spcAft>
              <a:buSzPts val="1400"/>
              <a:buChar char="●"/>
            </a:pPr>
            <a:r>
              <a:rPr lang="en"/>
              <a:t>Cockles, Oysters, Clams</a:t>
            </a:r>
            <a:endParaRPr>
              <a:solidFill>
                <a:srgbClr val="595959"/>
              </a:solidFill>
            </a:endParaRPr>
          </a:p>
        </p:txBody>
      </p:sp>
      <p:sp>
        <p:nvSpPr>
          <p:cNvPr id="130" name="Google Shape;130;p20"/>
          <p:cNvSpPr txBox="1"/>
          <p:nvPr/>
        </p:nvSpPr>
        <p:spPr>
          <a:xfrm>
            <a:off x="7037125" y="4298106"/>
            <a:ext cx="1661400" cy="393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2"/>
                </a:solidFill>
              </a:rPr>
              <a:t>(Metzger et al. 2015)</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 name="Google Shape;13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5</a:t>
            </a:fld>
            <a:endParaRPr>
              <a:solidFill>
                <a:schemeClr val="lt1"/>
              </a:solidFill>
            </a:endParaRPr>
          </a:p>
        </p:txBody>
      </p:sp>
      <p:sp>
        <p:nvSpPr>
          <p:cNvPr id="137" name="Google Shape;137;p21"/>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Introduction</a:t>
            </a:r>
            <a:endParaRPr/>
          </a:p>
        </p:txBody>
      </p:sp>
      <p:sp>
        <p:nvSpPr>
          <p:cNvPr id="138" name="Google Shape;138;p21"/>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139" name="Google Shape;139;p21"/>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Knowledge Gaps</a:t>
            </a:r>
            <a:endParaRPr sz="3561"/>
          </a:p>
        </p:txBody>
      </p:sp>
      <p:sp>
        <p:nvSpPr>
          <p:cNvPr id="140" name="Google Shape;140;p21"/>
          <p:cNvSpPr txBox="1"/>
          <p:nvPr/>
        </p:nvSpPr>
        <p:spPr>
          <a:xfrm>
            <a:off x="196950" y="1331375"/>
            <a:ext cx="8275500" cy="16617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a:t>Due to its recent classification, much remains unknown about BTN</a:t>
            </a:r>
            <a:endParaRPr/>
          </a:p>
          <a:p>
            <a:pPr marL="457200" lvl="0" indent="-317500" algn="l" rtl="0">
              <a:lnSpc>
                <a:spcPct val="115000"/>
              </a:lnSpc>
              <a:spcBef>
                <a:spcPts val="0"/>
              </a:spcBef>
              <a:spcAft>
                <a:spcPts val="0"/>
              </a:spcAft>
              <a:buSzPts val="1400"/>
              <a:buChar char="●"/>
            </a:pPr>
            <a:r>
              <a:rPr lang="en"/>
              <a:t>No existing epidemiological models</a:t>
            </a:r>
            <a:endParaRPr/>
          </a:p>
          <a:p>
            <a:pPr marL="457200" lvl="0" indent="-317500" algn="l" rtl="0">
              <a:lnSpc>
                <a:spcPct val="115000"/>
              </a:lnSpc>
              <a:spcBef>
                <a:spcPts val="0"/>
              </a:spcBef>
              <a:spcAft>
                <a:spcPts val="0"/>
              </a:spcAft>
              <a:buSzPts val="1400"/>
              <a:buChar char="●"/>
            </a:pPr>
            <a:r>
              <a:rPr lang="en"/>
              <a:t>Lack quantitative estimates of the fundamental processes governing transmission, progression, and particle persistence</a:t>
            </a:r>
            <a:endParaRPr/>
          </a:p>
          <a:p>
            <a:pPr marL="457200" marR="0" lvl="0" indent="-317500" algn="l" rtl="0">
              <a:lnSpc>
                <a:spcPct val="125454"/>
              </a:lnSpc>
              <a:spcBef>
                <a:spcPts val="0"/>
              </a:spcBef>
              <a:spcAft>
                <a:spcPts val="0"/>
              </a:spcAft>
              <a:buSzPts val="1400"/>
              <a:buChar char="●"/>
            </a:pPr>
            <a:r>
              <a:rPr lang="en"/>
              <a:t>Data-driven modeling and seasonal forecasts are essential components of disease response strategies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 name="Google Shape;14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6</a:t>
            </a:fld>
            <a:endParaRPr>
              <a:solidFill>
                <a:schemeClr val="lt1"/>
              </a:solidFill>
            </a:endParaRPr>
          </a:p>
        </p:txBody>
      </p:sp>
      <p:sp>
        <p:nvSpPr>
          <p:cNvPr id="147" name="Google Shape;147;p22"/>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Agenda</a:t>
            </a:r>
            <a:endParaRPr/>
          </a:p>
        </p:txBody>
      </p:sp>
      <p:sp>
        <p:nvSpPr>
          <p:cNvPr id="148" name="Google Shape;148;p22"/>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a:t>M.S. Defense</a:t>
            </a:r>
            <a:endParaRPr/>
          </a:p>
        </p:txBody>
      </p:sp>
      <p:sp>
        <p:nvSpPr>
          <p:cNvPr id="149" name="Google Shape;149;p22"/>
          <p:cNvSpPr txBox="1"/>
          <p:nvPr/>
        </p:nvSpPr>
        <p:spPr>
          <a:xfrm>
            <a:off x="516425" y="883349"/>
            <a:ext cx="7043700" cy="3376800"/>
          </a:xfrm>
          <a:prstGeom prst="rect">
            <a:avLst/>
          </a:prstGeom>
          <a:noFill/>
          <a:ln>
            <a:noFill/>
          </a:ln>
        </p:spPr>
        <p:txBody>
          <a:bodyPr spcFirstLastPara="1" wrap="square" lIns="91425" tIns="91425" rIns="91425" bIns="91425" anchor="ctr" anchorCtr="0">
            <a:noAutofit/>
          </a:bodyPr>
          <a:lstStyle/>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Introduction</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Research Goals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Methods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Results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Conclusions</a:t>
            </a:r>
            <a:endParaRPr sz="2400" b="1">
              <a:solidFill>
                <a:srgbClr val="B7B7B7"/>
              </a:solidFill>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7</a:t>
            </a:fld>
            <a:endParaRPr>
              <a:solidFill>
                <a:schemeClr val="lt1"/>
              </a:solidFill>
            </a:endParaRPr>
          </a:p>
        </p:txBody>
      </p:sp>
      <p:sp>
        <p:nvSpPr>
          <p:cNvPr id="156" name="Google Shape;156;p23"/>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Research Goals</a:t>
            </a:r>
            <a:endParaRPr/>
          </a:p>
        </p:txBody>
      </p:sp>
      <p:sp>
        <p:nvSpPr>
          <p:cNvPr id="157" name="Google Shape;157;p23"/>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grpSp>
        <p:nvGrpSpPr>
          <p:cNvPr id="158" name="Google Shape;158;p23"/>
          <p:cNvGrpSpPr/>
          <p:nvPr/>
        </p:nvGrpSpPr>
        <p:grpSpPr>
          <a:xfrm>
            <a:off x="920075" y="858874"/>
            <a:ext cx="7189771" cy="3980167"/>
            <a:chOff x="1338897" y="918500"/>
            <a:chExt cx="6466203" cy="2916942"/>
          </a:xfrm>
        </p:grpSpPr>
        <p:sp>
          <p:nvSpPr>
            <p:cNvPr id="159" name="Google Shape;159;p23"/>
            <p:cNvSpPr txBox="1"/>
            <p:nvPr/>
          </p:nvSpPr>
          <p:spPr>
            <a:xfrm>
              <a:off x="1338897" y="2773442"/>
              <a:ext cx="6466200" cy="1062000"/>
            </a:xfrm>
            <a:prstGeom prst="rect">
              <a:avLst/>
            </a:prstGeom>
            <a:noFill/>
            <a:ln>
              <a:noFill/>
            </a:ln>
          </p:spPr>
          <p:txBody>
            <a:bodyPr spcFirstLastPara="1" wrap="square" lIns="0" tIns="50825" rIns="0" bIns="101650" anchor="ctr" anchorCtr="0">
              <a:noAutofit/>
            </a:bodyPr>
            <a:lstStyle/>
            <a:p>
              <a:pPr marL="12700" lvl="0" indent="0" algn="l" rtl="0">
                <a:lnSpc>
                  <a:spcPct val="125454"/>
                </a:lnSpc>
                <a:spcBef>
                  <a:spcPts val="0"/>
                </a:spcBef>
                <a:spcAft>
                  <a:spcPts val="0"/>
                </a:spcAft>
                <a:buClr>
                  <a:schemeClr val="hlink"/>
                </a:buClr>
                <a:buSzPts val="1100"/>
                <a:buFont typeface="Arial"/>
                <a:buNone/>
              </a:pPr>
              <a:r>
                <a:rPr lang="en">
                  <a:solidFill>
                    <a:schemeClr val="dk1"/>
                  </a:solidFill>
                </a:rPr>
                <a:t>Test the hypothesis that incorporating seasonal temperature effects allows the model to reproduce observed trends in disease dynamics.</a:t>
              </a:r>
              <a:endParaRPr>
                <a:solidFill>
                  <a:schemeClr val="dk1"/>
                </a:solidFill>
              </a:endParaRPr>
            </a:p>
            <a:p>
              <a:pPr marL="0" lvl="0" indent="0" algn="l" rtl="0">
                <a:lnSpc>
                  <a:spcPct val="100000"/>
                </a:lnSpc>
                <a:spcBef>
                  <a:spcPts val="0"/>
                </a:spcBef>
                <a:spcAft>
                  <a:spcPts val="0"/>
                </a:spcAft>
                <a:buNone/>
              </a:pPr>
              <a:endParaRPr>
                <a:solidFill>
                  <a:schemeClr val="dk2"/>
                </a:solidFill>
                <a:latin typeface="Rubik"/>
                <a:ea typeface="Rubik"/>
                <a:cs typeface="Rubik"/>
                <a:sym typeface="Rubik"/>
              </a:endParaRPr>
            </a:p>
          </p:txBody>
        </p:sp>
        <p:sp>
          <p:nvSpPr>
            <p:cNvPr id="160" name="Google Shape;160;p23"/>
            <p:cNvSpPr txBox="1"/>
            <p:nvPr/>
          </p:nvSpPr>
          <p:spPr>
            <a:xfrm>
              <a:off x="1338900" y="2546650"/>
              <a:ext cx="6466200" cy="226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sz="1411" b="1">
                  <a:solidFill>
                    <a:srgbClr val="0B5394"/>
                  </a:solidFill>
                </a:rPr>
                <a:t>3) Seasonality</a:t>
              </a:r>
              <a:endParaRPr sz="1411" b="1">
                <a:solidFill>
                  <a:srgbClr val="0B5394"/>
                </a:solidFill>
              </a:endParaRPr>
            </a:p>
          </p:txBody>
        </p:sp>
        <p:cxnSp>
          <p:nvCxnSpPr>
            <p:cNvPr id="161" name="Google Shape;161;p23"/>
            <p:cNvCxnSpPr/>
            <p:nvPr/>
          </p:nvCxnSpPr>
          <p:spPr>
            <a:xfrm>
              <a:off x="1338900" y="2773438"/>
              <a:ext cx="6466200" cy="0"/>
            </a:xfrm>
            <a:prstGeom prst="straightConnector1">
              <a:avLst/>
            </a:prstGeom>
            <a:noFill/>
            <a:ln w="10600" cap="flat" cmpd="sng">
              <a:solidFill>
                <a:srgbClr val="0B5394"/>
              </a:solidFill>
              <a:prstDash val="solid"/>
              <a:round/>
              <a:headEnd type="none" w="med" len="med"/>
              <a:tailEnd type="none" w="med" len="med"/>
            </a:ln>
          </p:spPr>
        </p:cxnSp>
        <p:sp>
          <p:nvSpPr>
            <p:cNvPr id="162" name="Google Shape;162;p23"/>
            <p:cNvSpPr txBox="1"/>
            <p:nvPr/>
          </p:nvSpPr>
          <p:spPr>
            <a:xfrm>
              <a:off x="1338900" y="1959380"/>
              <a:ext cx="6466200" cy="587400"/>
            </a:xfrm>
            <a:prstGeom prst="rect">
              <a:avLst/>
            </a:prstGeom>
            <a:noFill/>
            <a:ln>
              <a:noFill/>
            </a:ln>
          </p:spPr>
          <p:txBody>
            <a:bodyPr spcFirstLastPara="1" wrap="square" lIns="0" tIns="50825" rIns="0" bIns="101650" anchor="ctr" anchorCtr="0">
              <a:noAutofit/>
            </a:bodyPr>
            <a:lstStyle/>
            <a:p>
              <a:pPr marL="0" lvl="0" indent="0" algn="l" rtl="0">
                <a:lnSpc>
                  <a:spcPct val="100000"/>
                </a:lnSpc>
                <a:spcBef>
                  <a:spcPts val="0"/>
                </a:spcBef>
                <a:spcAft>
                  <a:spcPts val="0"/>
                </a:spcAft>
                <a:buNone/>
              </a:pPr>
              <a:r>
                <a:rPr lang="en">
                  <a:solidFill>
                    <a:schemeClr val="dk1"/>
                  </a:solidFill>
                </a:rPr>
                <a:t>Integrate particle dynamics into a mechanistic disease model.</a:t>
              </a:r>
              <a:endParaRPr>
                <a:solidFill>
                  <a:schemeClr val="dk1"/>
                </a:solidFill>
              </a:endParaRPr>
            </a:p>
          </p:txBody>
        </p:sp>
        <p:sp>
          <p:nvSpPr>
            <p:cNvPr id="163" name="Google Shape;163;p23"/>
            <p:cNvSpPr txBox="1"/>
            <p:nvPr/>
          </p:nvSpPr>
          <p:spPr>
            <a:xfrm>
              <a:off x="1338900" y="1732700"/>
              <a:ext cx="6466200" cy="226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sz="1411" b="1">
                  <a:solidFill>
                    <a:srgbClr val="0B5394"/>
                  </a:solidFill>
                </a:rPr>
                <a:t>2) Particle Component</a:t>
              </a:r>
              <a:endParaRPr sz="1411" b="1">
                <a:solidFill>
                  <a:srgbClr val="0B5394"/>
                </a:solidFill>
              </a:endParaRPr>
            </a:p>
          </p:txBody>
        </p:sp>
        <p:cxnSp>
          <p:nvCxnSpPr>
            <p:cNvPr id="164" name="Google Shape;164;p23"/>
            <p:cNvCxnSpPr/>
            <p:nvPr/>
          </p:nvCxnSpPr>
          <p:spPr>
            <a:xfrm>
              <a:off x="1338900" y="1959363"/>
              <a:ext cx="6466200" cy="0"/>
            </a:xfrm>
            <a:prstGeom prst="straightConnector1">
              <a:avLst/>
            </a:prstGeom>
            <a:noFill/>
            <a:ln w="10600" cap="flat" cmpd="sng">
              <a:solidFill>
                <a:srgbClr val="0B5394"/>
              </a:solidFill>
              <a:prstDash val="solid"/>
              <a:round/>
              <a:headEnd type="none" w="med" len="med"/>
              <a:tailEnd type="none" w="med" len="med"/>
            </a:ln>
          </p:spPr>
        </p:cxnSp>
        <p:sp>
          <p:nvSpPr>
            <p:cNvPr id="165" name="Google Shape;165;p23"/>
            <p:cNvSpPr txBox="1"/>
            <p:nvPr/>
          </p:nvSpPr>
          <p:spPr>
            <a:xfrm>
              <a:off x="1338900" y="1145300"/>
              <a:ext cx="6466200" cy="587400"/>
            </a:xfrm>
            <a:prstGeom prst="rect">
              <a:avLst/>
            </a:prstGeom>
            <a:noFill/>
            <a:ln>
              <a:noFill/>
            </a:ln>
          </p:spPr>
          <p:txBody>
            <a:bodyPr spcFirstLastPara="1" wrap="square" lIns="0" tIns="50825" rIns="0" bIns="101650" anchor="ctr" anchorCtr="0">
              <a:noAutofit/>
            </a:bodyPr>
            <a:lstStyle/>
            <a:p>
              <a:pPr marL="0" lvl="0" indent="0" algn="l" rtl="0">
                <a:lnSpc>
                  <a:spcPct val="100000"/>
                </a:lnSpc>
                <a:spcBef>
                  <a:spcPts val="0"/>
                </a:spcBef>
                <a:spcAft>
                  <a:spcPts val="0"/>
                </a:spcAft>
                <a:buNone/>
              </a:pPr>
              <a:r>
                <a:rPr lang="en">
                  <a:solidFill>
                    <a:schemeClr val="dk1"/>
                  </a:solidFill>
                </a:rPr>
                <a:t>Estimate key transmission and progression rates using a Bayesian epidemiological framework.</a:t>
              </a:r>
              <a:endParaRPr>
                <a:solidFill>
                  <a:schemeClr val="dk1"/>
                </a:solidFill>
              </a:endParaRPr>
            </a:p>
          </p:txBody>
        </p:sp>
        <p:sp>
          <p:nvSpPr>
            <p:cNvPr id="166" name="Google Shape;166;p23"/>
            <p:cNvSpPr txBox="1"/>
            <p:nvPr/>
          </p:nvSpPr>
          <p:spPr>
            <a:xfrm>
              <a:off x="1338900" y="918500"/>
              <a:ext cx="6466200" cy="226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sz="1411" b="1">
                  <a:solidFill>
                    <a:srgbClr val="0B5394"/>
                  </a:solidFill>
                </a:rPr>
                <a:t>1) Core Disease Model</a:t>
              </a:r>
              <a:endParaRPr sz="1411" b="1">
                <a:solidFill>
                  <a:srgbClr val="0B5394"/>
                </a:solidFill>
              </a:endParaRPr>
            </a:p>
          </p:txBody>
        </p:sp>
        <p:cxnSp>
          <p:nvCxnSpPr>
            <p:cNvPr id="167" name="Google Shape;167;p23"/>
            <p:cNvCxnSpPr/>
            <p:nvPr/>
          </p:nvCxnSpPr>
          <p:spPr>
            <a:xfrm>
              <a:off x="1338900" y="1145288"/>
              <a:ext cx="6466200" cy="0"/>
            </a:xfrm>
            <a:prstGeom prst="straightConnector1">
              <a:avLst/>
            </a:prstGeom>
            <a:noFill/>
            <a:ln w="10600" cap="flat" cmpd="sng">
              <a:solidFill>
                <a:srgbClr val="0B5394"/>
              </a:solidFill>
              <a:prstDash val="solid"/>
              <a:round/>
              <a:headEnd type="none" w="med" len="med"/>
              <a:tailEnd type="none" w="med" len="med"/>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8</a:t>
            </a:fld>
            <a:endParaRPr>
              <a:solidFill>
                <a:schemeClr val="lt1"/>
              </a:solidFill>
            </a:endParaRPr>
          </a:p>
        </p:txBody>
      </p:sp>
      <p:sp>
        <p:nvSpPr>
          <p:cNvPr id="174" name="Google Shape;174;p24"/>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Agenda</a:t>
            </a:r>
            <a:endParaRPr/>
          </a:p>
        </p:txBody>
      </p:sp>
      <p:sp>
        <p:nvSpPr>
          <p:cNvPr id="175" name="Google Shape;175;p24"/>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a:t>M.S. Defense</a:t>
            </a:r>
            <a:endParaRPr/>
          </a:p>
        </p:txBody>
      </p:sp>
      <p:sp>
        <p:nvSpPr>
          <p:cNvPr id="176" name="Google Shape;176;p24"/>
          <p:cNvSpPr txBox="1"/>
          <p:nvPr/>
        </p:nvSpPr>
        <p:spPr>
          <a:xfrm>
            <a:off x="516425" y="883349"/>
            <a:ext cx="7043700" cy="3376800"/>
          </a:xfrm>
          <a:prstGeom prst="rect">
            <a:avLst/>
          </a:prstGeom>
          <a:noFill/>
          <a:ln>
            <a:noFill/>
          </a:ln>
        </p:spPr>
        <p:txBody>
          <a:bodyPr spcFirstLastPara="1" wrap="square" lIns="91425" tIns="91425" rIns="91425" bIns="91425" anchor="ctr" anchorCtr="0">
            <a:noAutofit/>
          </a:bodyPr>
          <a:lstStyle/>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Introduction</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Research Goals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Methods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Results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Conclusions</a:t>
            </a:r>
            <a:endParaRPr sz="2400" b="1">
              <a:solidFill>
                <a:srgbClr val="B7B7B7"/>
              </a:solidFill>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0"/>
        <p:cNvGrpSpPr/>
        <p:nvPr/>
      </p:nvGrpSpPr>
      <p:grpSpPr>
        <a:xfrm>
          <a:off x="0" y="0"/>
          <a:ext cx="0" cy="0"/>
          <a:chOff x="0" y="0"/>
          <a:chExt cx="0" cy="0"/>
        </a:xfrm>
      </p:grpSpPr>
      <p:sp>
        <p:nvSpPr>
          <p:cNvPr id="181" name="Google Shape;181;p25"/>
          <p:cNvSpPr/>
          <p:nvPr/>
        </p:nvSpPr>
        <p:spPr>
          <a:xfrm>
            <a:off x="-9450" y="-45800"/>
            <a:ext cx="5691900" cy="5238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5"/>
          <p:cNvSpPr/>
          <p:nvPr/>
        </p:nvSpPr>
        <p:spPr>
          <a:xfrm>
            <a:off x="5623425" y="-45800"/>
            <a:ext cx="3562800" cy="5238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 name="Google Shape;183;p25"/>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184" name="Google Shape;184;p25"/>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solidFill>
                  <a:schemeClr val="dk1"/>
                </a:solidFill>
              </a:rPr>
              <a:t>M.S. Defense</a:t>
            </a:r>
            <a:endParaRPr>
              <a:solidFill>
                <a:schemeClr val="dk1"/>
              </a:solidFill>
            </a:endParaRPr>
          </a:p>
        </p:txBody>
      </p:sp>
      <p:sp>
        <p:nvSpPr>
          <p:cNvPr id="185" name="Google Shape;185;p25"/>
          <p:cNvSpPr txBox="1"/>
          <p:nvPr/>
        </p:nvSpPr>
        <p:spPr>
          <a:xfrm>
            <a:off x="6327600" y="1171650"/>
            <a:ext cx="2416500" cy="280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lang="en">
                <a:solidFill>
                  <a:schemeClr val="dk1"/>
                </a:solidFill>
                <a:latin typeface="Cambria Math"/>
                <a:ea typeface="Cambria Math"/>
                <a:cs typeface="Cambria Math"/>
                <a:sym typeface="Cambria Math"/>
              </a:rPr>
              <a:t>β</a:t>
            </a:r>
            <a:r>
              <a:rPr lang="en">
                <a:solidFill>
                  <a:schemeClr val="dk1"/>
                </a:solidFill>
                <a:latin typeface="DM Sans"/>
                <a:ea typeface="DM Sans"/>
                <a:cs typeface="DM Sans"/>
                <a:sym typeface="DM Sans"/>
              </a:rPr>
              <a:t> : </a:t>
            </a:r>
            <a:r>
              <a:rPr lang="en">
                <a:solidFill>
                  <a:schemeClr val="dk1"/>
                </a:solidFill>
              </a:rPr>
              <a:t>Rate at which susceptibles get infected from particles in the water</a:t>
            </a:r>
            <a:endParaRPr>
              <a:solidFill>
                <a:schemeClr val="dk1"/>
              </a:solidFill>
            </a:endParaRPr>
          </a:p>
          <a:p>
            <a:pPr marL="0" marR="0" lvl="0" indent="0" algn="l" rtl="0">
              <a:lnSpc>
                <a:spcPct val="115000"/>
              </a:lnSpc>
              <a:spcBef>
                <a:spcPts val="1200"/>
              </a:spcBef>
              <a:spcAft>
                <a:spcPts val="0"/>
              </a:spcAft>
              <a:buNone/>
            </a:pPr>
            <a:r>
              <a:rPr lang="en">
                <a:solidFill>
                  <a:schemeClr val="dk1"/>
                </a:solidFill>
                <a:latin typeface="Cambria Math"/>
                <a:ea typeface="Cambria Math"/>
                <a:cs typeface="Cambria Math"/>
                <a:sym typeface="Cambria Math"/>
              </a:rPr>
              <a:t>α</a:t>
            </a:r>
            <a:r>
              <a:rPr lang="en">
                <a:solidFill>
                  <a:schemeClr val="dk1"/>
                </a:solidFill>
                <a:latin typeface="DM Sans"/>
                <a:ea typeface="DM Sans"/>
                <a:cs typeface="DM Sans"/>
                <a:sym typeface="DM Sans"/>
              </a:rPr>
              <a:t> : </a:t>
            </a:r>
            <a:r>
              <a:rPr lang="en">
                <a:solidFill>
                  <a:schemeClr val="dk1"/>
                </a:solidFill>
              </a:rPr>
              <a:t>Progression rate from exposed to infectious</a:t>
            </a:r>
            <a:endParaRPr>
              <a:solidFill>
                <a:schemeClr val="dk1"/>
              </a:solidFill>
            </a:endParaRPr>
          </a:p>
          <a:p>
            <a:pPr marL="0" lvl="0" indent="0" algn="l" rtl="0">
              <a:lnSpc>
                <a:spcPct val="115000"/>
              </a:lnSpc>
              <a:spcBef>
                <a:spcPts val="1200"/>
              </a:spcBef>
              <a:spcAft>
                <a:spcPts val="0"/>
              </a:spcAft>
              <a:buNone/>
            </a:pPr>
            <a:r>
              <a:rPr lang="en">
                <a:solidFill>
                  <a:schemeClr val="dk1"/>
                </a:solidFill>
                <a:latin typeface="Cambria Math"/>
                <a:ea typeface="Cambria Math"/>
                <a:cs typeface="Cambria Math"/>
                <a:sym typeface="Cambria Math"/>
              </a:rPr>
              <a:t>m</a:t>
            </a:r>
            <a:r>
              <a:rPr lang="en">
                <a:solidFill>
                  <a:schemeClr val="dk1"/>
                </a:solidFill>
                <a:latin typeface="DM Sans"/>
                <a:ea typeface="DM Sans"/>
                <a:cs typeface="DM Sans"/>
                <a:sym typeface="DM Sans"/>
              </a:rPr>
              <a:t> : </a:t>
            </a:r>
            <a:r>
              <a:rPr lang="en">
                <a:solidFill>
                  <a:schemeClr val="dk1"/>
                </a:solidFill>
              </a:rPr>
              <a:t>Mortality rate of infectious individuals</a:t>
            </a:r>
            <a:endParaRPr>
              <a:solidFill>
                <a:schemeClr val="dk1"/>
              </a:solidFill>
            </a:endParaRPr>
          </a:p>
          <a:p>
            <a:pPr marL="0" lvl="0" indent="0" algn="l" rtl="0">
              <a:lnSpc>
                <a:spcPct val="115000"/>
              </a:lnSpc>
              <a:spcBef>
                <a:spcPts val="1200"/>
              </a:spcBef>
              <a:spcAft>
                <a:spcPts val="0"/>
              </a:spcAft>
              <a:buNone/>
            </a:pPr>
            <a:r>
              <a:rPr lang="en">
                <a:solidFill>
                  <a:schemeClr val="dk1"/>
                </a:solidFill>
                <a:latin typeface="Cambria Math"/>
                <a:ea typeface="Cambria Math"/>
                <a:cs typeface="Cambria Math"/>
                <a:sym typeface="Cambria Math"/>
              </a:rPr>
              <a:t>γ</a:t>
            </a:r>
            <a:r>
              <a:rPr lang="en">
                <a:solidFill>
                  <a:schemeClr val="dk1"/>
                </a:solidFill>
                <a:latin typeface="DM Sans"/>
                <a:ea typeface="DM Sans"/>
                <a:cs typeface="DM Sans"/>
                <a:sym typeface="DM Sans"/>
              </a:rPr>
              <a:t> : </a:t>
            </a:r>
            <a:r>
              <a:rPr lang="en">
                <a:solidFill>
                  <a:schemeClr val="dk1"/>
                </a:solidFill>
              </a:rPr>
              <a:t>Particle shedding rate</a:t>
            </a:r>
            <a:endParaRPr>
              <a:solidFill>
                <a:schemeClr val="dk1"/>
              </a:solidFill>
            </a:endParaRPr>
          </a:p>
          <a:p>
            <a:pPr marL="0" lvl="0" indent="0" algn="l" rtl="0">
              <a:lnSpc>
                <a:spcPct val="115000"/>
              </a:lnSpc>
              <a:spcBef>
                <a:spcPts val="1200"/>
              </a:spcBef>
              <a:spcAft>
                <a:spcPts val="0"/>
              </a:spcAft>
              <a:buNone/>
            </a:pPr>
            <a:r>
              <a:rPr lang="en">
                <a:solidFill>
                  <a:schemeClr val="dk1"/>
                </a:solidFill>
                <a:latin typeface="Cambria Math"/>
                <a:ea typeface="Cambria Math"/>
                <a:cs typeface="Cambria Math"/>
                <a:sym typeface="Cambria Math"/>
              </a:rPr>
              <a:t>δ</a:t>
            </a:r>
            <a:r>
              <a:rPr lang="en">
                <a:solidFill>
                  <a:schemeClr val="dk1"/>
                </a:solidFill>
                <a:latin typeface="DM Sans"/>
                <a:ea typeface="DM Sans"/>
                <a:cs typeface="DM Sans"/>
                <a:sym typeface="DM Sans"/>
              </a:rPr>
              <a:t> : </a:t>
            </a:r>
            <a:r>
              <a:rPr lang="en">
                <a:solidFill>
                  <a:schemeClr val="dk1"/>
                </a:solidFill>
              </a:rPr>
              <a:t>Particle decay rate</a:t>
            </a:r>
            <a:endParaRPr>
              <a:solidFill>
                <a:schemeClr val="dk1"/>
              </a:solidFill>
            </a:endParaRPr>
          </a:p>
          <a:p>
            <a:pPr marL="0" lvl="0" indent="0" algn="l" rtl="0">
              <a:spcBef>
                <a:spcPts val="1200"/>
              </a:spcBef>
              <a:spcAft>
                <a:spcPts val="0"/>
              </a:spcAft>
              <a:buNone/>
            </a:pPr>
            <a:endParaRPr>
              <a:solidFill>
                <a:schemeClr val="dk1"/>
              </a:solidFill>
              <a:latin typeface="DM Sans"/>
              <a:ea typeface="DM Sans"/>
              <a:cs typeface="DM Sans"/>
              <a:sym typeface="DM Sans"/>
            </a:endParaRPr>
          </a:p>
        </p:txBody>
      </p:sp>
      <p:pic>
        <p:nvPicPr>
          <p:cNvPr id="186" name="Google Shape;186;p25" title="model_notemp.png"/>
          <p:cNvPicPr preferRelativeResize="0"/>
          <p:nvPr/>
        </p:nvPicPr>
        <p:blipFill>
          <a:blip r:embed="rId3">
            <a:alphaModFix/>
          </a:blip>
          <a:stretch>
            <a:fillRect/>
          </a:stretch>
        </p:blipFill>
        <p:spPr>
          <a:xfrm>
            <a:off x="198400" y="1802651"/>
            <a:ext cx="5276201" cy="2169200"/>
          </a:xfrm>
          <a:prstGeom prst="rect">
            <a:avLst/>
          </a:prstGeom>
          <a:noFill/>
          <a:ln>
            <a:noFill/>
          </a:ln>
        </p:spPr>
      </p:pic>
      <p:sp>
        <p:nvSpPr>
          <p:cNvPr id="187" name="Google Shape;187;p25"/>
          <p:cNvSpPr txBox="1"/>
          <p:nvPr/>
        </p:nvSpPr>
        <p:spPr>
          <a:xfrm>
            <a:off x="189100" y="586200"/>
            <a:ext cx="4585800" cy="8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88" name="Google Shape;188;p25"/>
          <p:cNvSpPr/>
          <p:nvPr/>
        </p:nvSpPr>
        <p:spPr>
          <a:xfrm>
            <a:off x="0" y="4642575"/>
            <a:ext cx="91863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25"/>
          <p:cNvSpPr txBox="1">
            <a:spLocks noGrp="1"/>
          </p:cNvSpPr>
          <p:nvPr>
            <p:ph type="title"/>
          </p:nvPr>
        </p:nvSpPr>
        <p:spPr>
          <a:xfrm>
            <a:off x="604299" y="630936"/>
            <a:ext cx="3755400" cy="636300"/>
          </a:xfrm>
          <a:prstGeom prst="rect">
            <a:avLst/>
          </a:prstGeom>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3200">
                <a:solidFill>
                  <a:schemeClr val="dk1"/>
                </a:solidFill>
              </a:rPr>
              <a:t>SEIP Model</a:t>
            </a:r>
            <a:endParaRPr sz="3200"/>
          </a:p>
        </p:txBody>
      </p:sp>
      <p:sp>
        <p:nvSpPr>
          <p:cNvPr id="190" name="Google Shape;190;p25"/>
          <p:cNvSpPr/>
          <p:nvPr/>
        </p:nvSpPr>
        <p:spPr>
          <a:xfrm>
            <a:off x="6110225" y="1267225"/>
            <a:ext cx="209400" cy="209100"/>
          </a:xfrm>
          <a:prstGeom prst="star5">
            <a:avLst>
              <a:gd name="adj" fmla="val 19098"/>
              <a:gd name="hf" fmla="val 105146"/>
              <a:gd name="vf" fmla="val 110557"/>
            </a:avLst>
          </a:prstGeom>
          <a:solidFill>
            <a:srgbClr val="0B539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p>
        </p:txBody>
      </p:sp>
      <p:sp>
        <p:nvSpPr>
          <p:cNvPr id="191" name="Google Shape;191;p25"/>
          <p:cNvSpPr/>
          <p:nvPr/>
        </p:nvSpPr>
        <p:spPr>
          <a:xfrm>
            <a:off x="6110225" y="3823336"/>
            <a:ext cx="209400" cy="209100"/>
          </a:xfrm>
          <a:prstGeom prst="star5">
            <a:avLst>
              <a:gd name="adj" fmla="val 19098"/>
              <a:gd name="hf" fmla="val 105146"/>
              <a:gd name="vf" fmla="val 110557"/>
            </a:avLst>
          </a:prstGeom>
          <a:solidFill>
            <a:srgbClr val="0B539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p>
        </p:txBody>
      </p:sp>
      <p:sp>
        <p:nvSpPr>
          <p:cNvPr id="192" name="Google Shape;19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6"/>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 name="Google Shape;19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10</a:t>
            </a:fld>
            <a:endParaRPr>
              <a:solidFill>
                <a:schemeClr val="lt1"/>
              </a:solidFill>
            </a:endParaRPr>
          </a:p>
        </p:txBody>
      </p:sp>
      <p:sp>
        <p:nvSpPr>
          <p:cNvPr id="199" name="Google Shape;199;p26"/>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00" name="Google Shape;200;p26"/>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01" name="Google Shape;201;p26"/>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Four Model Variants</a:t>
            </a:r>
            <a:endParaRPr sz="3561"/>
          </a:p>
        </p:txBody>
      </p:sp>
      <p:grpSp>
        <p:nvGrpSpPr>
          <p:cNvPr id="202" name="Google Shape;202;p26"/>
          <p:cNvGrpSpPr/>
          <p:nvPr/>
        </p:nvGrpSpPr>
        <p:grpSpPr>
          <a:xfrm>
            <a:off x="848432" y="1493730"/>
            <a:ext cx="7624350" cy="2922887"/>
            <a:chOff x="1328700" y="1137850"/>
            <a:chExt cx="6486600" cy="2867825"/>
          </a:xfrm>
        </p:grpSpPr>
        <p:sp>
          <p:nvSpPr>
            <p:cNvPr id="203" name="Google Shape;203;p26"/>
            <p:cNvSpPr txBox="1"/>
            <p:nvPr/>
          </p:nvSpPr>
          <p:spPr>
            <a:xfrm>
              <a:off x="4030408" y="1137852"/>
              <a:ext cx="3784800" cy="717000"/>
            </a:xfrm>
            <a:prstGeom prst="rect">
              <a:avLst/>
            </a:prstGeom>
            <a:noFill/>
            <a:ln>
              <a:noFill/>
            </a:ln>
          </p:spPr>
          <p:txBody>
            <a:bodyPr spcFirstLastPara="1" wrap="square" lIns="93175" tIns="139775" rIns="93175" bIns="139775" anchor="ctr" anchorCtr="0">
              <a:noAutofit/>
            </a:bodyPr>
            <a:lstStyle/>
            <a:p>
              <a:pPr marL="0" lvl="0" indent="0" algn="l" rtl="0">
                <a:spcBef>
                  <a:spcPts val="0"/>
                </a:spcBef>
                <a:spcAft>
                  <a:spcPts val="0"/>
                </a:spcAft>
                <a:buNone/>
              </a:pPr>
              <a:r>
                <a:rPr lang="en" sz="1426">
                  <a:solidFill>
                    <a:schemeClr val="dk1"/>
                  </a:solidFill>
                </a:rPr>
                <a:t>No temperature dependence</a:t>
              </a:r>
              <a:endParaRPr sz="1426">
                <a:solidFill>
                  <a:schemeClr val="dk1"/>
                </a:solidFill>
              </a:endParaRPr>
            </a:p>
          </p:txBody>
        </p:sp>
        <p:sp>
          <p:nvSpPr>
            <p:cNvPr id="204" name="Google Shape;204;p26"/>
            <p:cNvSpPr txBox="1"/>
            <p:nvPr/>
          </p:nvSpPr>
          <p:spPr>
            <a:xfrm>
              <a:off x="4030408" y="2571688"/>
              <a:ext cx="3784800" cy="717000"/>
            </a:xfrm>
            <a:prstGeom prst="rect">
              <a:avLst/>
            </a:prstGeom>
            <a:noFill/>
            <a:ln>
              <a:noFill/>
            </a:ln>
          </p:spPr>
          <p:txBody>
            <a:bodyPr spcFirstLastPara="1" wrap="square" lIns="93175" tIns="139775" rIns="93175" bIns="139775" anchor="ctr" anchorCtr="0">
              <a:noAutofit/>
            </a:bodyPr>
            <a:lstStyle/>
            <a:p>
              <a:pPr marL="0" lvl="0" indent="0" algn="l" rtl="0">
                <a:spcBef>
                  <a:spcPts val="0"/>
                </a:spcBef>
                <a:spcAft>
                  <a:spcPts val="0"/>
                </a:spcAft>
                <a:buNone/>
              </a:pPr>
              <a:r>
                <a:rPr lang="en" sz="1426">
                  <a:solidFill>
                    <a:schemeClr val="dk1"/>
                  </a:solidFill>
                </a:rPr>
                <a:t>Temperature dependence in disease progression (</a:t>
              </a:r>
              <a:r>
                <a:rPr lang="en" sz="1426">
                  <a:solidFill>
                    <a:schemeClr val="dk1"/>
                  </a:solidFill>
                  <a:latin typeface="Cambria Math"/>
                  <a:ea typeface="Cambria Math"/>
                  <a:cs typeface="Cambria Math"/>
                  <a:sym typeface="Cambria Math"/>
                </a:rPr>
                <a:t>β</a:t>
              </a:r>
              <a:r>
                <a:rPr lang="en" sz="1426">
                  <a:solidFill>
                    <a:schemeClr val="dk1"/>
                  </a:solidFill>
                </a:rPr>
                <a:t>)</a:t>
              </a:r>
              <a:endParaRPr sz="1426">
                <a:solidFill>
                  <a:schemeClr val="dk1"/>
                </a:solidFill>
              </a:endParaRPr>
            </a:p>
          </p:txBody>
        </p:sp>
        <p:sp>
          <p:nvSpPr>
            <p:cNvPr id="205" name="Google Shape;205;p26"/>
            <p:cNvSpPr txBox="1"/>
            <p:nvPr/>
          </p:nvSpPr>
          <p:spPr>
            <a:xfrm>
              <a:off x="4030408" y="1854756"/>
              <a:ext cx="3784800" cy="717000"/>
            </a:xfrm>
            <a:prstGeom prst="rect">
              <a:avLst/>
            </a:prstGeom>
            <a:noFill/>
            <a:ln>
              <a:noFill/>
            </a:ln>
          </p:spPr>
          <p:txBody>
            <a:bodyPr spcFirstLastPara="1" wrap="square" lIns="93175" tIns="139775" rIns="93175" bIns="139775" anchor="ctr" anchorCtr="0">
              <a:noAutofit/>
            </a:bodyPr>
            <a:lstStyle/>
            <a:p>
              <a:pPr marL="0" lvl="0" indent="0" algn="l" rtl="0">
                <a:spcBef>
                  <a:spcPts val="0"/>
                </a:spcBef>
                <a:spcAft>
                  <a:spcPts val="0"/>
                </a:spcAft>
                <a:buNone/>
              </a:pPr>
              <a:r>
                <a:rPr lang="en" sz="1426">
                  <a:solidFill>
                    <a:schemeClr val="dk1"/>
                  </a:solidFill>
                </a:rPr>
                <a:t>Temperature dependence in particle decay (</a:t>
              </a:r>
              <a:r>
                <a:rPr lang="en" sz="1426">
                  <a:solidFill>
                    <a:schemeClr val="dk1"/>
                  </a:solidFill>
                  <a:latin typeface="Cambria Math"/>
                  <a:ea typeface="Cambria Math"/>
                  <a:cs typeface="Cambria Math"/>
                  <a:sym typeface="Cambria Math"/>
                </a:rPr>
                <a:t>δ</a:t>
              </a:r>
              <a:r>
                <a:rPr lang="en" sz="1426">
                  <a:solidFill>
                    <a:schemeClr val="dk1"/>
                  </a:solidFill>
                </a:rPr>
                <a:t>)</a:t>
              </a:r>
              <a:endParaRPr sz="1426">
                <a:solidFill>
                  <a:schemeClr val="dk1"/>
                </a:solidFill>
              </a:endParaRPr>
            </a:p>
          </p:txBody>
        </p:sp>
        <p:sp>
          <p:nvSpPr>
            <p:cNvPr id="206" name="Google Shape;206;p26"/>
            <p:cNvSpPr txBox="1"/>
            <p:nvPr/>
          </p:nvSpPr>
          <p:spPr>
            <a:xfrm>
              <a:off x="4030408" y="3288665"/>
              <a:ext cx="3784800" cy="717000"/>
            </a:xfrm>
            <a:prstGeom prst="rect">
              <a:avLst/>
            </a:prstGeom>
            <a:noFill/>
            <a:ln>
              <a:noFill/>
            </a:ln>
          </p:spPr>
          <p:txBody>
            <a:bodyPr spcFirstLastPara="1" wrap="square" lIns="93175" tIns="139775" rIns="93175" bIns="139775" anchor="ctr" anchorCtr="0">
              <a:noAutofit/>
            </a:bodyPr>
            <a:lstStyle/>
            <a:p>
              <a:pPr marL="0" lvl="0" indent="0" algn="l" rtl="0">
                <a:lnSpc>
                  <a:spcPct val="80000"/>
                </a:lnSpc>
                <a:spcBef>
                  <a:spcPts val="0"/>
                </a:spcBef>
                <a:spcAft>
                  <a:spcPts val="0"/>
                </a:spcAft>
                <a:buNone/>
              </a:pPr>
              <a:r>
                <a:rPr lang="en" sz="1426">
                  <a:solidFill>
                    <a:schemeClr val="dk1"/>
                  </a:solidFill>
                </a:rPr>
                <a:t>Both temperature dependent parameters (</a:t>
              </a:r>
              <a:r>
                <a:rPr lang="en" sz="1426">
                  <a:solidFill>
                    <a:schemeClr val="dk1"/>
                  </a:solidFill>
                  <a:latin typeface="Cambria Math"/>
                  <a:ea typeface="Cambria Math"/>
                  <a:cs typeface="Cambria Math"/>
                  <a:sym typeface="Cambria Math"/>
                </a:rPr>
                <a:t>δ, β</a:t>
              </a:r>
              <a:r>
                <a:rPr lang="en" sz="1426">
                  <a:solidFill>
                    <a:schemeClr val="dk1"/>
                  </a:solidFill>
                </a:rPr>
                <a:t>)</a:t>
              </a:r>
              <a:endParaRPr sz="1426">
                <a:solidFill>
                  <a:schemeClr val="dk1"/>
                </a:solidFill>
              </a:endParaRPr>
            </a:p>
          </p:txBody>
        </p:sp>
        <p:cxnSp>
          <p:nvCxnSpPr>
            <p:cNvPr id="207" name="Google Shape;207;p26"/>
            <p:cNvCxnSpPr/>
            <p:nvPr/>
          </p:nvCxnSpPr>
          <p:spPr>
            <a:xfrm rot="10800000">
              <a:off x="3843092" y="1854821"/>
              <a:ext cx="3909300" cy="0"/>
            </a:xfrm>
            <a:prstGeom prst="straightConnector1">
              <a:avLst/>
            </a:prstGeom>
            <a:noFill/>
            <a:ln w="19425" cap="flat" cmpd="sng">
              <a:solidFill>
                <a:schemeClr val="dk1"/>
              </a:solidFill>
              <a:prstDash val="solid"/>
              <a:round/>
              <a:headEnd type="none" w="med" len="med"/>
              <a:tailEnd type="none" w="med" len="med"/>
            </a:ln>
          </p:spPr>
        </p:cxnSp>
        <p:cxnSp>
          <p:nvCxnSpPr>
            <p:cNvPr id="208" name="Google Shape;208;p26"/>
            <p:cNvCxnSpPr/>
            <p:nvPr/>
          </p:nvCxnSpPr>
          <p:spPr>
            <a:xfrm rot="10800000">
              <a:off x="3843092" y="2571743"/>
              <a:ext cx="3909300" cy="0"/>
            </a:xfrm>
            <a:prstGeom prst="straightConnector1">
              <a:avLst/>
            </a:prstGeom>
            <a:noFill/>
            <a:ln w="19425" cap="flat" cmpd="sng">
              <a:solidFill>
                <a:schemeClr val="dk1"/>
              </a:solidFill>
              <a:prstDash val="solid"/>
              <a:round/>
              <a:headEnd type="none" w="med" len="med"/>
              <a:tailEnd type="none" w="med" len="med"/>
            </a:ln>
          </p:spPr>
        </p:cxnSp>
        <p:cxnSp>
          <p:nvCxnSpPr>
            <p:cNvPr id="209" name="Google Shape;209;p26"/>
            <p:cNvCxnSpPr/>
            <p:nvPr/>
          </p:nvCxnSpPr>
          <p:spPr>
            <a:xfrm rot="10800000">
              <a:off x="3843092" y="3288665"/>
              <a:ext cx="3909300" cy="0"/>
            </a:xfrm>
            <a:prstGeom prst="straightConnector1">
              <a:avLst/>
            </a:prstGeom>
            <a:noFill/>
            <a:ln w="19425" cap="flat" cmpd="sng">
              <a:solidFill>
                <a:schemeClr val="dk1"/>
              </a:solidFill>
              <a:prstDash val="solid"/>
              <a:round/>
              <a:headEnd type="none" w="med" len="med"/>
              <a:tailEnd type="none" w="med" len="med"/>
            </a:ln>
          </p:spPr>
        </p:cxnSp>
        <p:cxnSp>
          <p:nvCxnSpPr>
            <p:cNvPr id="210" name="Google Shape;210;p26"/>
            <p:cNvCxnSpPr/>
            <p:nvPr/>
          </p:nvCxnSpPr>
          <p:spPr>
            <a:xfrm rot="10800000">
              <a:off x="1328700" y="1137850"/>
              <a:ext cx="6486600" cy="0"/>
            </a:xfrm>
            <a:prstGeom prst="straightConnector1">
              <a:avLst/>
            </a:prstGeom>
            <a:noFill/>
            <a:ln w="19425" cap="flat" cmpd="sng">
              <a:solidFill>
                <a:schemeClr val="dk1"/>
              </a:solidFill>
              <a:prstDash val="solid"/>
              <a:round/>
              <a:headEnd type="none" w="med" len="med"/>
              <a:tailEnd type="none" w="med" len="med"/>
            </a:ln>
          </p:spPr>
        </p:cxnSp>
        <p:sp>
          <p:nvSpPr>
            <p:cNvPr id="211" name="Google Shape;211;p26"/>
            <p:cNvSpPr txBox="1"/>
            <p:nvPr/>
          </p:nvSpPr>
          <p:spPr>
            <a:xfrm>
              <a:off x="3766108" y="1351870"/>
              <a:ext cx="342900" cy="2889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426">
                  <a:solidFill>
                    <a:schemeClr val="dk1"/>
                  </a:solidFill>
                </a:rPr>
                <a:t>1.</a:t>
              </a:r>
              <a:endParaRPr sz="1426">
                <a:solidFill>
                  <a:schemeClr val="dk1"/>
                </a:solidFill>
              </a:endParaRPr>
            </a:p>
          </p:txBody>
        </p:sp>
        <p:sp>
          <p:nvSpPr>
            <p:cNvPr id="212" name="Google Shape;212;p26"/>
            <p:cNvSpPr txBox="1"/>
            <p:nvPr/>
          </p:nvSpPr>
          <p:spPr>
            <a:xfrm>
              <a:off x="3766108" y="2070345"/>
              <a:ext cx="342900" cy="2889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426">
                  <a:solidFill>
                    <a:schemeClr val="dk1"/>
                  </a:solidFill>
                </a:rPr>
                <a:t>2.</a:t>
              </a:r>
              <a:endParaRPr sz="1426">
                <a:solidFill>
                  <a:schemeClr val="dk1"/>
                </a:solidFill>
              </a:endParaRPr>
            </a:p>
          </p:txBody>
        </p:sp>
        <p:sp>
          <p:nvSpPr>
            <p:cNvPr id="213" name="Google Shape;213;p26"/>
            <p:cNvSpPr txBox="1"/>
            <p:nvPr/>
          </p:nvSpPr>
          <p:spPr>
            <a:xfrm>
              <a:off x="3766108" y="2787292"/>
              <a:ext cx="342900" cy="2889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426">
                  <a:solidFill>
                    <a:schemeClr val="dk1"/>
                  </a:solidFill>
                </a:rPr>
                <a:t>3.</a:t>
              </a:r>
              <a:endParaRPr sz="1426">
                <a:solidFill>
                  <a:schemeClr val="dk1"/>
                </a:solidFill>
              </a:endParaRPr>
            </a:p>
          </p:txBody>
        </p:sp>
        <p:sp>
          <p:nvSpPr>
            <p:cNvPr id="214" name="Google Shape;214;p26"/>
            <p:cNvSpPr txBox="1"/>
            <p:nvPr/>
          </p:nvSpPr>
          <p:spPr>
            <a:xfrm>
              <a:off x="3766108" y="3504253"/>
              <a:ext cx="342900" cy="2889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426">
                  <a:solidFill>
                    <a:schemeClr val="dk1"/>
                  </a:solidFill>
                </a:rPr>
                <a:t>4.</a:t>
              </a:r>
              <a:endParaRPr sz="1426">
                <a:solidFill>
                  <a:schemeClr val="dk1"/>
                </a:solidFill>
              </a:endParaRPr>
            </a:p>
          </p:txBody>
        </p:sp>
        <p:cxnSp>
          <p:nvCxnSpPr>
            <p:cNvPr id="215" name="Google Shape;215;p26"/>
            <p:cNvCxnSpPr/>
            <p:nvPr/>
          </p:nvCxnSpPr>
          <p:spPr>
            <a:xfrm rot="10800000">
              <a:off x="3843101" y="4005675"/>
              <a:ext cx="3909300" cy="0"/>
            </a:xfrm>
            <a:prstGeom prst="straightConnector1">
              <a:avLst/>
            </a:prstGeom>
            <a:noFill/>
            <a:ln w="19425" cap="flat" cmpd="sng">
              <a:solidFill>
                <a:schemeClr val="dk1"/>
              </a:solidFill>
              <a:prstDash val="solid"/>
              <a:round/>
              <a:headEnd type="none" w="med" len="med"/>
              <a:tailEnd type="none" w="med" len="med"/>
            </a:ln>
          </p:spPr>
        </p:cxnSp>
      </p:grpSp>
      <p:sp>
        <p:nvSpPr>
          <p:cNvPr id="216" name="Google Shape;216;p26"/>
          <p:cNvSpPr txBox="1"/>
          <p:nvPr/>
        </p:nvSpPr>
        <p:spPr>
          <a:xfrm>
            <a:off x="848375" y="1741200"/>
            <a:ext cx="2566500" cy="2675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200000"/>
              </a:lnSpc>
              <a:spcBef>
                <a:spcPts val="0"/>
              </a:spcBef>
              <a:spcAft>
                <a:spcPts val="0"/>
              </a:spcAft>
              <a:buNone/>
            </a:pPr>
            <a:r>
              <a:rPr lang="en" sz="2000">
                <a:solidFill>
                  <a:schemeClr val="dk1"/>
                </a:solidFill>
                <a:latin typeface="Cambria Math"/>
                <a:ea typeface="Cambria Math"/>
                <a:cs typeface="Cambria Math"/>
                <a:sym typeface="Cambria Math"/>
              </a:rPr>
              <a:t>dS/dt = -β*P*S + m*I</a:t>
            </a:r>
            <a:endParaRPr sz="2000">
              <a:solidFill>
                <a:schemeClr val="dk1"/>
              </a:solidFill>
              <a:latin typeface="Cambria Math"/>
              <a:ea typeface="Cambria Math"/>
              <a:cs typeface="Cambria Math"/>
              <a:sym typeface="Cambria Math"/>
            </a:endParaRPr>
          </a:p>
          <a:p>
            <a:pPr marL="0" lvl="0" indent="0" algn="l" rtl="0">
              <a:lnSpc>
                <a:spcPct val="200000"/>
              </a:lnSpc>
              <a:spcBef>
                <a:spcPts val="0"/>
              </a:spcBef>
              <a:spcAft>
                <a:spcPts val="0"/>
              </a:spcAft>
              <a:buNone/>
            </a:pPr>
            <a:r>
              <a:rPr lang="en" sz="2000">
                <a:solidFill>
                  <a:schemeClr val="dk1"/>
                </a:solidFill>
                <a:latin typeface="Cambria Math"/>
                <a:ea typeface="Cambria Math"/>
                <a:cs typeface="Cambria Math"/>
                <a:sym typeface="Cambria Math"/>
              </a:rPr>
              <a:t>dE/dt = β*P*S - α*Ε</a:t>
            </a:r>
            <a:endParaRPr sz="2000">
              <a:solidFill>
                <a:schemeClr val="dk1"/>
              </a:solidFill>
              <a:latin typeface="Cambria Math"/>
              <a:ea typeface="Cambria Math"/>
              <a:cs typeface="Cambria Math"/>
              <a:sym typeface="Cambria Math"/>
            </a:endParaRPr>
          </a:p>
          <a:p>
            <a:pPr marL="0" lvl="0" indent="0" algn="l" rtl="0">
              <a:lnSpc>
                <a:spcPct val="200000"/>
              </a:lnSpc>
              <a:spcBef>
                <a:spcPts val="0"/>
              </a:spcBef>
              <a:spcAft>
                <a:spcPts val="0"/>
              </a:spcAft>
              <a:buNone/>
            </a:pPr>
            <a:r>
              <a:rPr lang="en" sz="2000">
                <a:solidFill>
                  <a:schemeClr val="dk1"/>
                </a:solidFill>
                <a:latin typeface="Cambria Math"/>
                <a:ea typeface="Cambria Math"/>
                <a:cs typeface="Cambria Math"/>
                <a:sym typeface="Cambria Math"/>
              </a:rPr>
              <a:t>dI/dt = α*E - m*I</a:t>
            </a:r>
            <a:endParaRPr sz="2000">
              <a:solidFill>
                <a:schemeClr val="dk1"/>
              </a:solidFill>
              <a:latin typeface="Cambria Math"/>
              <a:ea typeface="Cambria Math"/>
              <a:cs typeface="Cambria Math"/>
              <a:sym typeface="Cambria Math"/>
            </a:endParaRPr>
          </a:p>
          <a:p>
            <a:pPr marL="0" lvl="0" indent="0" algn="l" rtl="0">
              <a:lnSpc>
                <a:spcPct val="200000"/>
              </a:lnSpc>
              <a:spcBef>
                <a:spcPts val="0"/>
              </a:spcBef>
              <a:spcAft>
                <a:spcPts val="0"/>
              </a:spcAft>
              <a:buNone/>
            </a:pPr>
            <a:r>
              <a:rPr lang="en" sz="2000">
                <a:solidFill>
                  <a:schemeClr val="dk1"/>
                </a:solidFill>
                <a:latin typeface="Cambria Math"/>
                <a:ea typeface="Cambria Math"/>
                <a:cs typeface="Cambria Math"/>
                <a:sym typeface="Cambria Math"/>
              </a:rPr>
              <a:t>dP/dt = γ*I - δ*P</a:t>
            </a:r>
            <a:endParaRPr sz="2000">
              <a:solidFill>
                <a:schemeClr val="dk1"/>
              </a:solidFill>
              <a:latin typeface="Cambria Math"/>
              <a:ea typeface="Cambria Math"/>
              <a:cs typeface="Cambria Math"/>
              <a:sym typeface="Cambria Mat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7"/>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Google Shape;222;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11</a:t>
            </a:fld>
            <a:endParaRPr>
              <a:solidFill>
                <a:schemeClr val="lt1"/>
              </a:solidFill>
            </a:endParaRPr>
          </a:p>
        </p:txBody>
      </p:sp>
      <p:sp>
        <p:nvSpPr>
          <p:cNvPr id="223" name="Google Shape;223;p27"/>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24" name="Google Shape;224;p27"/>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25" name="Google Shape;225;p27"/>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Assumptions</a:t>
            </a:r>
            <a:endParaRPr sz="3561"/>
          </a:p>
        </p:txBody>
      </p:sp>
      <p:sp>
        <p:nvSpPr>
          <p:cNvPr id="226" name="Google Shape;226;p27"/>
          <p:cNvSpPr txBox="1"/>
          <p:nvPr/>
        </p:nvSpPr>
        <p:spPr>
          <a:xfrm>
            <a:off x="196950" y="1331375"/>
            <a:ext cx="8096700" cy="1752000"/>
          </a:xfrm>
          <a:prstGeom prst="rect">
            <a:avLst/>
          </a:prstGeom>
          <a:noFill/>
          <a:ln>
            <a:noFill/>
          </a:ln>
        </p:spPr>
        <p:txBody>
          <a:bodyPr spcFirstLastPara="1" wrap="square" lIns="91425" tIns="91425" rIns="91425" bIns="91425" anchor="t" anchorCtr="0">
            <a:spAutoFit/>
          </a:bodyPr>
          <a:lstStyle/>
          <a:p>
            <a:pPr marL="457200" lvl="0" indent="-317500" algn="l" rtl="0">
              <a:lnSpc>
                <a:spcPct val="125454"/>
              </a:lnSpc>
              <a:spcBef>
                <a:spcPts val="0"/>
              </a:spcBef>
              <a:spcAft>
                <a:spcPts val="0"/>
              </a:spcAft>
              <a:buClr>
                <a:schemeClr val="dk1"/>
              </a:buClr>
              <a:buSzPts val="1400"/>
              <a:buChar char="●"/>
            </a:pPr>
            <a:r>
              <a:rPr lang="en">
                <a:solidFill>
                  <a:schemeClr val="dk1"/>
                </a:solidFill>
              </a:rPr>
              <a:t>No natural births/deaths unrelated to disease</a:t>
            </a:r>
            <a:endParaRPr>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Constant population size</a:t>
            </a:r>
            <a:endParaRPr>
              <a:solidFill>
                <a:schemeClr val="dk1"/>
              </a:solidFill>
            </a:endParaRPr>
          </a:p>
          <a:p>
            <a:pPr marL="914400" lvl="1" indent="-317500" algn="l" rtl="0">
              <a:lnSpc>
                <a:spcPct val="125454"/>
              </a:lnSpc>
              <a:spcBef>
                <a:spcPts val="0"/>
              </a:spcBef>
              <a:spcAft>
                <a:spcPts val="0"/>
              </a:spcAft>
              <a:buClr>
                <a:schemeClr val="dk1"/>
              </a:buClr>
              <a:buSzPts val="1400"/>
              <a:buChar char="○"/>
            </a:pPr>
            <a:r>
              <a:rPr lang="en">
                <a:solidFill>
                  <a:schemeClr val="dk1"/>
                </a:solidFill>
              </a:rPr>
              <a:t>Total population is conserved over time</a:t>
            </a:r>
            <a:endParaRPr>
              <a:solidFill>
                <a:schemeClr val="dk1"/>
              </a:solidFill>
            </a:endParaRPr>
          </a:p>
          <a:p>
            <a:pPr marL="1371600" lvl="0" indent="0" algn="l" rtl="0">
              <a:lnSpc>
                <a:spcPct val="125454"/>
              </a:lnSpc>
              <a:spcBef>
                <a:spcPts val="0"/>
              </a:spcBef>
              <a:spcAft>
                <a:spcPts val="0"/>
              </a:spcAft>
              <a:buNone/>
            </a:pPr>
            <a:r>
              <a:rPr lang="en">
                <a:solidFill>
                  <a:schemeClr val="dk1"/>
                </a:solidFill>
              </a:rPr>
              <a:t>⇒ S + E + I = 1</a:t>
            </a:r>
            <a:endParaRPr>
              <a:solidFill>
                <a:schemeClr val="dk1"/>
              </a:solidFill>
            </a:endParaRPr>
          </a:p>
          <a:p>
            <a:pPr marL="914400" lvl="1" indent="-317500" algn="l" rtl="0">
              <a:lnSpc>
                <a:spcPct val="125454"/>
              </a:lnSpc>
              <a:spcBef>
                <a:spcPts val="0"/>
              </a:spcBef>
              <a:spcAft>
                <a:spcPts val="0"/>
              </a:spcAft>
              <a:buClr>
                <a:schemeClr val="dk1"/>
              </a:buClr>
              <a:buSzPts val="1400"/>
              <a:buFont typeface="Cambria Math"/>
              <a:buChar char="○"/>
            </a:pPr>
            <a:r>
              <a:rPr lang="en">
                <a:solidFill>
                  <a:schemeClr val="dk1"/>
                </a:solidFill>
              </a:rPr>
              <a:t>Individuals return to the system into S at rate mI to maintain population balance</a:t>
            </a:r>
            <a:endParaRPr>
              <a:solidFill>
                <a:schemeClr val="dk1"/>
              </a:solidFill>
            </a:endParaRPr>
          </a:p>
          <a:p>
            <a:pPr marL="914400" lvl="1" indent="-317500" algn="l" rtl="0">
              <a:lnSpc>
                <a:spcPct val="125454"/>
              </a:lnSpc>
              <a:spcBef>
                <a:spcPts val="0"/>
              </a:spcBef>
              <a:spcAft>
                <a:spcPts val="0"/>
              </a:spcAft>
              <a:buClr>
                <a:schemeClr val="dk1"/>
              </a:buClr>
              <a:buSzPts val="1400"/>
              <a:buChar char="○"/>
            </a:pPr>
            <a:r>
              <a:rPr lang="en">
                <a:solidFill>
                  <a:schemeClr val="dk1"/>
                </a:solidFill>
              </a:rPr>
              <a:t>Modeling at an endemic state of the disease</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8"/>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12</a:t>
            </a:fld>
            <a:endParaRPr>
              <a:solidFill>
                <a:schemeClr val="lt1"/>
              </a:solidFill>
            </a:endParaRPr>
          </a:p>
        </p:txBody>
      </p:sp>
      <p:sp>
        <p:nvSpPr>
          <p:cNvPr id="233" name="Google Shape;233;p28"/>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34" name="Google Shape;234;p28"/>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35" name="Google Shape;235;p28"/>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Bayesian Modeling</a:t>
            </a:r>
            <a:endParaRPr sz="3561"/>
          </a:p>
        </p:txBody>
      </p:sp>
      <p:sp>
        <p:nvSpPr>
          <p:cNvPr id="236" name="Google Shape;236;p28"/>
          <p:cNvSpPr txBox="1"/>
          <p:nvPr/>
        </p:nvSpPr>
        <p:spPr>
          <a:xfrm>
            <a:off x="196950" y="1493375"/>
            <a:ext cx="3140700" cy="2833200"/>
          </a:xfrm>
          <a:prstGeom prst="rect">
            <a:avLst/>
          </a:prstGeom>
          <a:noFill/>
          <a:ln>
            <a:noFill/>
          </a:ln>
        </p:spPr>
        <p:txBody>
          <a:bodyPr spcFirstLastPara="1" wrap="square" lIns="91425" tIns="91425" rIns="91425" bIns="91425" anchor="t" anchorCtr="0">
            <a:spAutoFit/>
          </a:bodyPr>
          <a:lstStyle/>
          <a:p>
            <a:pPr marL="457200" lvl="0" indent="-317500" algn="l" rtl="0">
              <a:lnSpc>
                <a:spcPct val="125454"/>
              </a:lnSpc>
              <a:spcBef>
                <a:spcPts val="0"/>
              </a:spcBef>
              <a:spcAft>
                <a:spcPts val="0"/>
              </a:spcAft>
              <a:buClr>
                <a:schemeClr val="dk1"/>
              </a:buClr>
              <a:buSzPts val="1400"/>
              <a:buChar char="●"/>
            </a:pPr>
            <a:r>
              <a:rPr lang="en">
                <a:solidFill>
                  <a:schemeClr val="dk1"/>
                </a:solidFill>
              </a:rPr>
              <a:t>Combine prior knowledge (lab data) with new observations (survey data)</a:t>
            </a:r>
            <a:endParaRPr>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Quantify uncertainty in parameters and predictions</a:t>
            </a:r>
            <a:endParaRPr>
              <a:solidFill>
                <a:schemeClr val="dk1"/>
              </a:solidFill>
            </a:endParaRPr>
          </a:p>
          <a:p>
            <a:pPr marL="914400" lvl="1" indent="-317500" algn="l" rtl="0">
              <a:lnSpc>
                <a:spcPct val="125454"/>
              </a:lnSpc>
              <a:spcBef>
                <a:spcPts val="0"/>
              </a:spcBef>
              <a:spcAft>
                <a:spcPts val="0"/>
              </a:spcAft>
              <a:buClr>
                <a:schemeClr val="dk1"/>
              </a:buClr>
              <a:buSzPts val="1400"/>
              <a:buChar char="○"/>
            </a:pPr>
            <a:r>
              <a:rPr lang="en">
                <a:solidFill>
                  <a:schemeClr val="dk1"/>
                </a:solidFill>
              </a:rPr>
              <a:t>Gives a range of likely values, not just one number</a:t>
            </a:r>
            <a:endParaRPr>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Works well with limited or noisy data</a:t>
            </a:r>
            <a:endParaRPr>
              <a:solidFill>
                <a:schemeClr val="dk1"/>
              </a:solidFill>
            </a:endParaRPr>
          </a:p>
        </p:txBody>
      </p:sp>
      <p:pic>
        <p:nvPicPr>
          <p:cNvPr id="237" name="Google Shape;237;p28"/>
          <p:cNvPicPr preferRelativeResize="0"/>
          <p:nvPr/>
        </p:nvPicPr>
        <p:blipFill>
          <a:blip r:embed="rId3">
            <a:alphaModFix/>
          </a:blip>
          <a:stretch>
            <a:fillRect/>
          </a:stretch>
        </p:blipFill>
        <p:spPr>
          <a:xfrm>
            <a:off x="3799200" y="1449975"/>
            <a:ext cx="5147424" cy="1634250"/>
          </a:xfrm>
          <a:prstGeom prst="rect">
            <a:avLst/>
          </a:prstGeom>
          <a:noFill/>
          <a:ln>
            <a:noFill/>
          </a:ln>
        </p:spPr>
      </p:pic>
      <p:sp>
        <p:nvSpPr>
          <p:cNvPr id="238" name="Google Shape;238;p28"/>
          <p:cNvSpPr txBox="1"/>
          <p:nvPr/>
        </p:nvSpPr>
        <p:spPr>
          <a:xfrm>
            <a:off x="3799200" y="3266450"/>
            <a:ext cx="5001900" cy="10266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sz="3000" dirty="0">
                <a:solidFill>
                  <a:schemeClr val="dk1"/>
                </a:solidFill>
                <a:latin typeface="Cambria Math"/>
                <a:ea typeface="Cambria Math"/>
                <a:cs typeface="Cambria Math"/>
                <a:sym typeface="Cambria Math"/>
              </a:rPr>
              <a:t>p(</a:t>
            </a:r>
            <a:r>
              <a:rPr lang="en" sz="3000" dirty="0" err="1">
                <a:solidFill>
                  <a:schemeClr val="dk1"/>
                </a:solidFill>
                <a:latin typeface="Cambria Math"/>
                <a:ea typeface="Cambria Math"/>
                <a:cs typeface="Cambria Math"/>
                <a:sym typeface="Cambria Math"/>
              </a:rPr>
              <a:t>θ</a:t>
            </a:r>
            <a:r>
              <a:rPr lang="en" sz="3000" dirty="0">
                <a:solidFill>
                  <a:schemeClr val="dk1"/>
                </a:solidFill>
                <a:latin typeface="Cambria Math"/>
                <a:ea typeface="Cambria Math"/>
                <a:cs typeface="Cambria Math"/>
                <a:sym typeface="Cambria Math"/>
              </a:rPr>
              <a:t>) *p(</a:t>
            </a:r>
            <a:r>
              <a:rPr lang="en" sz="3000" dirty="0" err="1">
                <a:solidFill>
                  <a:schemeClr val="dk1"/>
                </a:solidFill>
                <a:latin typeface="Cambria Math"/>
                <a:ea typeface="Cambria Math"/>
                <a:cs typeface="Cambria Math"/>
                <a:sym typeface="Cambria Math"/>
              </a:rPr>
              <a:t>y|θ</a:t>
            </a:r>
            <a:r>
              <a:rPr lang="en" sz="3000" dirty="0">
                <a:solidFill>
                  <a:schemeClr val="dk1"/>
                </a:solidFill>
                <a:latin typeface="Cambria Math"/>
                <a:ea typeface="Cambria Math"/>
                <a:cs typeface="Cambria Math"/>
                <a:sym typeface="Cambria Math"/>
              </a:rPr>
              <a:t>)∝ p(</a:t>
            </a:r>
            <a:r>
              <a:rPr lang="en" sz="3000" dirty="0" err="1">
                <a:solidFill>
                  <a:schemeClr val="dk1"/>
                </a:solidFill>
                <a:latin typeface="Cambria Math"/>
                <a:ea typeface="Cambria Math"/>
                <a:cs typeface="Cambria Math"/>
                <a:sym typeface="Cambria Math"/>
              </a:rPr>
              <a:t>θ|y</a:t>
            </a:r>
            <a:r>
              <a:rPr lang="en" sz="3000" dirty="0">
                <a:solidFill>
                  <a:schemeClr val="dk1"/>
                </a:solidFill>
                <a:latin typeface="Cambria Math"/>
                <a:ea typeface="Cambria Math"/>
                <a:cs typeface="Cambria Math"/>
                <a:sym typeface="Cambria Math"/>
              </a:rPr>
              <a:t>)</a:t>
            </a:r>
          </a:p>
          <a:p>
            <a:pPr marL="0" lvl="0" indent="457200" algn="ctr" rtl="0">
              <a:lnSpc>
                <a:spcPct val="150000"/>
              </a:lnSpc>
              <a:spcBef>
                <a:spcPts val="0"/>
              </a:spcBef>
              <a:spcAft>
                <a:spcPts val="0"/>
              </a:spcAft>
              <a:buNone/>
            </a:pPr>
            <a:r>
              <a:rPr lang="en" sz="1800" b="1" dirty="0">
                <a:solidFill>
                  <a:schemeClr val="dk1"/>
                </a:solidFill>
                <a:latin typeface="DM Sans"/>
                <a:ea typeface="DM Sans"/>
                <a:cs typeface="DM Sans"/>
                <a:sym typeface="DM Sans"/>
              </a:rPr>
              <a:t>Bayes Formula</a:t>
            </a:r>
            <a:endParaRPr sz="1800" b="1" dirty="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9"/>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13</a:t>
            </a:fld>
            <a:endParaRPr>
              <a:solidFill>
                <a:schemeClr val="lt1"/>
              </a:solidFill>
            </a:endParaRPr>
          </a:p>
        </p:txBody>
      </p:sp>
      <p:sp>
        <p:nvSpPr>
          <p:cNvPr id="245" name="Google Shape;245;p29"/>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46" name="Google Shape;246;p2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47" name="Google Shape;247;p29"/>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STAN</a:t>
            </a:r>
            <a:endParaRPr sz="3561"/>
          </a:p>
        </p:txBody>
      </p:sp>
      <p:sp>
        <p:nvSpPr>
          <p:cNvPr id="248" name="Google Shape;248;p29"/>
          <p:cNvSpPr txBox="1"/>
          <p:nvPr/>
        </p:nvSpPr>
        <p:spPr>
          <a:xfrm>
            <a:off x="196950" y="1331375"/>
            <a:ext cx="7999200" cy="3374100"/>
          </a:xfrm>
          <a:prstGeom prst="rect">
            <a:avLst/>
          </a:prstGeom>
          <a:noFill/>
          <a:ln>
            <a:noFill/>
          </a:ln>
        </p:spPr>
        <p:txBody>
          <a:bodyPr spcFirstLastPara="1" wrap="square" lIns="91425" tIns="91425" rIns="91425" bIns="91425" anchor="t" anchorCtr="0">
            <a:spAutoFit/>
          </a:bodyPr>
          <a:lstStyle/>
          <a:p>
            <a:pPr marL="0" lvl="0" indent="0" algn="l" rtl="0">
              <a:lnSpc>
                <a:spcPct val="125454"/>
              </a:lnSpc>
              <a:spcBef>
                <a:spcPts val="0"/>
              </a:spcBef>
              <a:spcAft>
                <a:spcPts val="0"/>
              </a:spcAft>
              <a:buNone/>
            </a:pPr>
            <a:r>
              <a:rPr lang="en">
                <a:solidFill>
                  <a:schemeClr val="dk1"/>
                </a:solidFill>
              </a:rPr>
              <a:t>A programming tool for running Bayesian models that has an R interface (rstan, cmdstanr)</a:t>
            </a:r>
            <a:endParaRPr>
              <a:solidFill>
                <a:schemeClr val="dk1"/>
              </a:solidFill>
            </a:endParaRPr>
          </a:p>
          <a:p>
            <a:pPr marL="0" lvl="0" indent="0" algn="l" rtl="0">
              <a:lnSpc>
                <a:spcPct val="125454"/>
              </a:lnSpc>
              <a:spcBef>
                <a:spcPts val="0"/>
              </a:spcBef>
              <a:spcAft>
                <a:spcPts val="0"/>
              </a:spcAft>
              <a:buNone/>
            </a:pPr>
            <a:r>
              <a:rPr lang="en" b="1">
                <a:solidFill>
                  <a:schemeClr val="dk1"/>
                </a:solidFill>
              </a:rPr>
              <a:t>Process</a:t>
            </a:r>
            <a:r>
              <a:rPr lang="en">
                <a:solidFill>
                  <a:schemeClr val="dk1"/>
                </a:solidFill>
              </a:rPr>
              <a:t>:</a:t>
            </a:r>
            <a:endParaRPr>
              <a:solidFill>
                <a:schemeClr val="dk1"/>
              </a:solidFill>
            </a:endParaRPr>
          </a:p>
          <a:p>
            <a:pPr marL="457200" lvl="0" indent="-317500" algn="l" rtl="0">
              <a:lnSpc>
                <a:spcPct val="125454"/>
              </a:lnSpc>
              <a:spcBef>
                <a:spcPts val="0"/>
              </a:spcBef>
              <a:spcAft>
                <a:spcPts val="0"/>
              </a:spcAft>
              <a:buClr>
                <a:schemeClr val="dk1"/>
              </a:buClr>
              <a:buSzPts val="1400"/>
              <a:buAutoNum type="arabicParenR"/>
            </a:pPr>
            <a:r>
              <a:rPr lang="en">
                <a:solidFill>
                  <a:schemeClr val="dk1"/>
                </a:solidFill>
              </a:rPr>
              <a:t>Define the system (ODEs) and what ranges are reasonable for each parameter (priors)</a:t>
            </a:r>
            <a:endParaRPr>
              <a:solidFill>
                <a:schemeClr val="dk1"/>
              </a:solidFill>
            </a:endParaRPr>
          </a:p>
          <a:p>
            <a:pPr marL="457200" lvl="0" indent="-317500" algn="l" rtl="0">
              <a:lnSpc>
                <a:spcPct val="125454"/>
              </a:lnSpc>
              <a:spcBef>
                <a:spcPts val="0"/>
              </a:spcBef>
              <a:spcAft>
                <a:spcPts val="0"/>
              </a:spcAft>
              <a:buClr>
                <a:schemeClr val="dk1"/>
              </a:buClr>
              <a:buSzPts val="1400"/>
              <a:buAutoNum type="arabicParenR"/>
            </a:pPr>
            <a:r>
              <a:rPr lang="en">
                <a:solidFill>
                  <a:schemeClr val="dk1"/>
                </a:solidFill>
              </a:rPr>
              <a:t>Stan explores parameter space</a:t>
            </a:r>
            <a:endParaRPr>
              <a:solidFill>
                <a:schemeClr val="dk1"/>
              </a:solidFill>
            </a:endParaRPr>
          </a:p>
          <a:p>
            <a:pPr marL="914400" lvl="1" indent="-317500" algn="l" rtl="0">
              <a:lnSpc>
                <a:spcPct val="125454"/>
              </a:lnSpc>
              <a:spcBef>
                <a:spcPts val="0"/>
              </a:spcBef>
              <a:spcAft>
                <a:spcPts val="0"/>
              </a:spcAft>
              <a:buClr>
                <a:schemeClr val="dk1"/>
              </a:buClr>
              <a:buSzPts val="1400"/>
              <a:buAutoNum type="alphaLcParenR"/>
            </a:pPr>
            <a:r>
              <a:rPr lang="en">
                <a:solidFill>
                  <a:schemeClr val="dk1"/>
                </a:solidFill>
              </a:rPr>
              <a:t>Hamiltonian Monte Carlo to efficiently test many combinations of parameter values</a:t>
            </a:r>
            <a:endParaRPr>
              <a:solidFill>
                <a:schemeClr val="dk1"/>
              </a:solidFill>
            </a:endParaRPr>
          </a:p>
          <a:p>
            <a:pPr marL="914400" lvl="1" indent="-317500" algn="l" rtl="0">
              <a:lnSpc>
                <a:spcPct val="125454"/>
              </a:lnSpc>
              <a:spcBef>
                <a:spcPts val="0"/>
              </a:spcBef>
              <a:spcAft>
                <a:spcPts val="0"/>
              </a:spcAft>
              <a:buClr>
                <a:schemeClr val="dk1"/>
              </a:buClr>
              <a:buSzPts val="1400"/>
              <a:buAutoNum type="alphaLcParenR"/>
            </a:pPr>
            <a:r>
              <a:rPr lang="en">
                <a:solidFill>
                  <a:schemeClr val="dk1"/>
                </a:solidFill>
              </a:rPr>
              <a:t>Prefers values that make the simulated data look like the observed data</a:t>
            </a:r>
            <a:endParaRPr>
              <a:solidFill>
                <a:schemeClr val="dk1"/>
              </a:solidFill>
            </a:endParaRPr>
          </a:p>
          <a:p>
            <a:pPr marL="457200" lvl="0" indent="-317500" algn="l" rtl="0">
              <a:lnSpc>
                <a:spcPct val="125454"/>
              </a:lnSpc>
              <a:spcBef>
                <a:spcPts val="0"/>
              </a:spcBef>
              <a:spcAft>
                <a:spcPts val="0"/>
              </a:spcAft>
              <a:buClr>
                <a:schemeClr val="dk1"/>
              </a:buClr>
              <a:buSzPts val="1400"/>
              <a:buAutoNum type="arabicParenR"/>
            </a:pPr>
            <a:r>
              <a:rPr lang="en">
                <a:solidFill>
                  <a:schemeClr val="dk1"/>
                </a:solidFill>
              </a:rPr>
              <a:t>Sampling setup</a:t>
            </a:r>
            <a:endParaRPr>
              <a:solidFill>
                <a:schemeClr val="dk1"/>
              </a:solidFill>
            </a:endParaRPr>
          </a:p>
          <a:p>
            <a:pPr marL="914400" lvl="1" indent="-317500" algn="l" rtl="0">
              <a:lnSpc>
                <a:spcPct val="125454"/>
              </a:lnSpc>
              <a:spcBef>
                <a:spcPts val="0"/>
              </a:spcBef>
              <a:spcAft>
                <a:spcPts val="0"/>
              </a:spcAft>
              <a:buClr>
                <a:schemeClr val="dk1"/>
              </a:buClr>
              <a:buSzPts val="1400"/>
              <a:buAutoNum type="alphaLcParenR"/>
            </a:pPr>
            <a:r>
              <a:rPr lang="en">
                <a:solidFill>
                  <a:schemeClr val="dk1"/>
                </a:solidFill>
              </a:rPr>
              <a:t>4 HMC chains, each run for 2000 iterations</a:t>
            </a:r>
            <a:endParaRPr>
              <a:solidFill>
                <a:schemeClr val="dk1"/>
              </a:solidFill>
            </a:endParaRPr>
          </a:p>
          <a:p>
            <a:pPr marL="1371600" lvl="2" indent="-317500" algn="l" rtl="0">
              <a:lnSpc>
                <a:spcPct val="125454"/>
              </a:lnSpc>
              <a:spcBef>
                <a:spcPts val="0"/>
              </a:spcBef>
              <a:spcAft>
                <a:spcPts val="0"/>
              </a:spcAft>
              <a:buClr>
                <a:schemeClr val="dk1"/>
              </a:buClr>
              <a:buSzPts val="1400"/>
              <a:buAutoNum type="romanLcParenR"/>
            </a:pPr>
            <a:r>
              <a:rPr lang="en">
                <a:solidFill>
                  <a:schemeClr val="dk1"/>
                </a:solidFill>
              </a:rPr>
              <a:t>First 1000 iterations are a warm-up to adjust and tune the sampler</a:t>
            </a:r>
            <a:endParaRPr>
              <a:solidFill>
                <a:schemeClr val="dk1"/>
              </a:solidFill>
            </a:endParaRPr>
          </a:p>
          <a:p>
            <a:pPr marL="1371600" lvl="2" indent="-317500" algn="l" rtl="0">
              <a:lnSpc>
                <a:spcPct val="125454"/>
              </a:lnSpc>
              <a:spcBef>
                <a:spcPts val="0"/>
              </a:spcBef>
              <a:spcAft>
                <a:spcPts val="0"/>
              </a:spcAft>
              <a:buClr>
                <a:schemeClr val="dk1"/>
              </a:buClr>
              <a:buSzPts val="1400"/>
              <a:buAutoNum type="romanLcParenR"/>
            </a:pPr>
            <a:r>
              <a:rPr lang="en">
                <a:solidFill>
                  <a:schemeClr val="dk1"/>
                </a:solidFill>
              </a:rPr>
              <a:t>Remaining iterations are used for the posterior</a:t>
            </a:r>
            <a:endParaRPr>
              <a:solidFill>
                <a:schemeClr val="dk1"/>
              </a:solidFill>
            </a:endParaRPr>
          </a:p>
          <a:p>
            <a:pPr marL="457200" lvl="0" indent="-317500" algn="l" rtl="0">
              <a:lnSpc>
                <a:spcPct val="125454"/>
              </a:lnSpc>
              <a:spcBef>
                <a:spcPts val="0"/>
              </a:spcBef>
              <a:spcAft>
                <a:spcPts val="0"/>
              </a:spcAft>
              <a:buClr>
                <a:schemeClr val="dk1"/>
              </a:buClr>
              <a:buSzPts val="1400"/>
              <a:buAutoNum type="arabicParenR"/>
            </a:pPr>
            <a:r>
              <a:rPr lang="en">
                <a:solidFill>
                  <a:schemeClr val="dk1"/>
                </a:solidFill>
              </a:rPr>
              <a:t>The output is thousands of possible parameter combinations (posterior)</a:t>
            </a:r>
            <a:endParaRPr>
              <a:solidFill>
                <a:schemeClr val="dk1"/>
              </a:solidFill>
            </a:endParaRPr>
          </a:p>
          <a:p>
            <a:pPr marL="914400" lvl="1" indent="-317500" algn="l" rtl="0">
              <a:lnSpc>
                <a:spcPct val="125454"/>
              </a:lnSpc>
              <a:spcBef>
                <a:spcPts val="0"/>
              </a:spcBef>
              <a:spcAft>
                <a:spcPts val="0"/>
              </a:spcAft>
              <a:buClr>
                <a:schemeClr val="dk1"/>
              </a:buClr>
              <a:buSzPts val="1400"/>
              <a:buAutoNum type="alphaLcParenR"/>
            </a:pPr>
            <a:r>
              <a:rPr lang="en">
                <a:solidFill>
                  <a:schemeClr val="dk1"/>
                </a:solidFill>
              </a:rPr>
              <a:t>Report medians and uncertainty ranges</a:t>
            </a:r>
            <a:endParaRPr>
              <a:solidFill>
                <a:schemeClr val="dk1"/>
              </a:solidFill>
            </a:endParaRPr>
          </a:p>
        </p:txBody>
      </p:sp>
      <p:pic>
        <p:nvPicPr>
          <p:cNvPr id="249" name="Google Shape;249;p29"/>
          <p:cNvPicPr preferRelativeResize="0"/>
          <p:nvPr/>
        </p:nvPicPr>
        <p:blipFill>
          <a:blip r:embed="rId3">
            <a:alphaModFix/>
          </a:blip>
          <a:stretch>
            <a:fillRect/>
          </a:stretch>
        </p:blipFill>
        <p:spPr>
          <a:xfrm>
            <a:off x="7217275" y="2925027"/>
            <a:ext cx="1301100" cy="1301100"/>
          </a:xfrm>
          <a:prstGeom prst="rect">
            <a:avLst/>
          </a:prstGeom>
          <a:noFill/>
          <a:ln>
            <a:noFill/>
          </a:ln>
        </p:spPr>
      </p:pic>
      <p:sp>
        <p:nvSpPr>
          <p:cNvPr id="250" name="Google Shape;250;p29"/>
          <p:cNvSpPr txBox="1"/>
          <p:nvPr/>
        </p:nvSpPr>
        <p:spPr>
          <a:xfrm>
            <a:off x="7037125" y="4213958"/>
            <a:ext cx="1661400" cy="393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2"/>
                </a:solidFill>
                <a:latin typeface="DM Sans Light"/>
                <a:ea typeface="DM Sans Light"/>
                <a:cs typeface="DM Sans Light"/>
                <a:sym typeface="DM Sans Light"/>
              </a:rPr>
              <a:t>(Gelman et al. 2020)</a:t>
            </a:r>
            <a:endParaRPr sz="1200">
              <a:solidFill>
                <a:schemeClr val="dk2"/>
              </a:solidFill>
              <a:latin typeface="DM Sans Light"/>
              <a:ea typeface="DM Sans Light"/>
              <a:cs typeface="DM Sans Light"/>
              <a:sym typeface="DM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0"/>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14</a:t>
            </a:fld>
            <a:endParaRPr>
              <a:solidFill>
                <a:schemeClr val="lt1"/>
              </a:solidFill>
            </a:endParaRPr>
          </a:p>
        </p:txBody>
      </p:sp>
      <p:sp>
        <p:nvSpPr>
          <p:cNvPr id="257" name="Google Shape;257;p30"/>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58" name="Google Shape;258;p3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59" name="Google Shape;259;p30"/>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200"/>
              <a:t>Lab Data - Cancer Cell Emission</a:t>
            </a:r>
            <a:endParaRPr sz="3561"/>
          </a:p>
        </p:txBody>
      </p:sp>
      <p:sp>
        <p:nvSpPr>
          <p:cNvPr id="260" name="Google Shape;260;p30"/>
          <p:cNvSpPr txBox="1"/>
          <p:nvPr/>
        </p:nvSpPr>
        <p:spPr>
          <a:xfrm>
            <a:off x="196943" y="1548878"/>
            <a:ext cx="3421500" cy="2833200"/>
          </a:xfrm>
          <a:prstGeom prst="rect">
            <a:avLst/>
          </a:prstGeom>
          <a:noFill/>
          <a:ln>
            <a:noFill/>
          </a:ln>
        </p:spPr>
        <p:txBody>
          <a:bodyPr spcFirstLastPara="1" wrap="square" lIns="91425" tIns="91425" rIns="91425" bIns="91425" anchor="t" anchorCtr="0">
            <a:spAutoFit/>
          </a:bodyPr>
          <a:lstStyle/>
          <a:p>
            <a:pPr marL="12700" lvl="0" indent="0" algn="l" rtl="0">
              <a:lnSpc>
                <a:spcPct val="125454"/>
              </a:lnSpc>
              <a:spcBef>
                <a:spcPts val="0"/>
              </a:spcBef>
              <a:spcAft>
                <a:spcPts val="0"/>
              </a:spcAft>
              <a:buNone/>
            </a:pPr>
            <a:r>
              <a:rPr lang="en" b="1">
                <a:solidFill>
                  <a:schemeClr val="dk1"/>
                </a:solidFill>
              </a:rPr>
              <a:t>Purpose</a:t>
            </a:r>
            <a:r>
              <a:rPr lang="en">
                <a:solidFill>
                  <a:schemeClr val="dk1"/>
                </a:solidFill>
              </a:rPr>
              <a:t>: When and how much cancer is released into the water by infectious clams</a:t>
            </a:r>
            <a:endParaRPr>
              <a:solidFill>
                <a:schemeClr val="dk1"/>
              </a:solidFill>
            </a:endParaRPr>
          </a:p>
          <a:p>
            <a:pPr marL="12700" lvl="0" indent="0" algn="l" rtl="0">
              <a:lnSpc>
                <a:spcPct val="125454"/>
              </a:lnSpc>
              <a:spcBef>
                <a:spcPts val="0"/>
              </a:spcBef>
              <a:spcAft>
                <a:spcPts val="0"/>
              </a:spcAft>
              <a:buNone/>
            </a:pPr>
            <a:r>
              <a:rPr lang="en" b="1">
                <a:solidFill>
                  <a:schemeClr val="dk1"/>
                </a:solidFill>
              </a:rPr>
              <a:t>Informs</a:t>
            </a:r>
            <a:r>
              <a:rPr lang="en">
                <a:solidFill>
                  <a:schemeClr val="dk1"/>
                </a:solidFill>
              </a:rPr>
              <a:t>: Infectious cutoff, </a:t>
            </a:r>
            <a:r>
              <a:rPr lang="en" i="1">
                <a:solidFill>
                  <a:schemeClr val="dk1"/>
                </a:solidFill>
                <a:latin typeface="Cambria Math"/>
                <a:ea typeface="Cambria Math"/>
                <a:cs typeface="Cambria Math"/>
                <a:sym typeface="Cambria Math"/>
              </a:rPr>
              <a:t>γ</a:t>
            </a:r>
            <a:endParaRPr i="1">
              <a:solidFill>
                <a:schemeClr val="dk1"/>
              </a:solidFill>
              <a:latin typeface="Cambria Math"/>
              <a:ea typeface="Cambria Math"/>
              <a:cs typeface="Cambria Math"/>
              <a:sym typeface="Cambria Math"/>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Infectious starting at 0.24 cancer fraction</a:t>
            </a:r>
            <a:endParaRPr>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Average particle emission ≈ 10.11 copies per mL</a:t>
            </a:r>
            <a:endParaRPr>
              <a:solidFill>
                <a:schemeClr val="dk1"/>
              </a:solidFill>
            </a:endParaRPr>
          </a:p>
          <a:p>
            <a:pPr marL="12700" lvl="0" indent="0" algn="l" rtl="0">
              <a:lnSpc>
                <a:spcPct val="125454"/>
              </a:lnSpc>
              <a:spcBef>
                <a:spcPts val="0"/>
              </a:spcBef>
              <a:spcAft>
                <a:spcPts val="0"/>
              </a:spcAft>
              <a:buNone/>
            </a:pPr>
            <a:r>
              <a:rPr lang="en" b="1">
                <a:solidFill>
                  <a:schemeClr val="dk1"/>
                </a:solidFill>
              </a:rPr>
              <a:t>Method</a:t>
            </a:r>
            <a:r>
              <a:rPr lang="en">
                <a:solidFill>
                  <a:schemeClr val="dk1"/>
                </a:solidFill>
              </a:rPr>
              <a:t>: Change point analysis on emission</a:t>
            </a:r>
            <a:endParaRPr>
              <a:solidFill>
                <a:schemeClr val="dk1"/>
              </a:solidFill>
            </a:endParaRPr>
          </a:p>
        </p:txBody>
      </p:sp>
      <p:pic>
        <p:nvPicPr>
          <p:cNvPr id="261" name="Google Shape;261;p30" title="changepoint.png"/>
          <p:cNvPicPr preferRelativeResize="0"/>
          <p:nvPr/>
        </p:nvPicPr>
        <p:blipFill>
          <a:blip r:embed="rId3">
            <a:alphaModFix/>
          </a:blip>
          <a:stretch>
            <a:fillRect/>
          </a:stretch>
        </p:blipFill>
        <p:spPr>
          <a:xfrm>
            <a:off x="3965135" y="1556950"/>
            <a:ext cx="4507325" cy="281707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7" name="Google Shape;267;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15</a:t>
            </a:fld>
            <a:endParaRPr>
              <a:solidFill>
                <a:schemeClr val="lt1"/>
              </a:solidFill>
            </a:endParaRPr>
          </a:p>
        </p:txBody>
      </p:sp>
      <p:sp>
        <p:nvSpPr>
          <p:cNvPr id="268" name="Google Shape;268;p31"/>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69" name="Google Shape;269;p31"/>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70" name="Google Shape;270;p31"/>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200"/>
              <a:t>Lab Data - Cancer Progression</a:t>
            </a:r>
            <a:endParaRPr sz="3561"/>
          </a:p>
        </p:txBody>
      </p:sp>
      <p:sp>
        <p:nvSpPr>
          <p:cNvPr id="271" name="Google Shape;271;p31"/>
          <p:cNvSpPr txBox="1"/>
          <p:nvPr/>
        </p:nvSpPr>
        <p:spPr>
          <a:xfrm>
            <a:off x="411468" y="1327388"/>
            <a:ext cx="7982100" cy="1481700"/>
          </a:xfrm>
          <a:prstGeom prst="rect">
            <a:avLst/>
          </a:prstGeom>
          <a:noFill/>
          <a:ln>
            <a:noFill/>
          </a:ln>
        </p:spPr>
        <p:txBody>
          <a:bodyPr spcFirstLastPara="1" wrap="square" lIns="91425" tIns="91425" rIns="91425" bIns="91425" anchor="t" anchorCtr="0">
            <a:spAutoFit/>
          </a:bodyPr>
          <a:lstStyle/>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Purpose</a:t>
            </a:r>
            <a:r>
              <a:rPr lang="en">
                <a:solidFill>
                  <a:schemeClr val="dk1"/>
                </a:solidFill>
              </a:rPr>
              <a:t>: Timing of cancer progression</a:t>
            </a:r>
            <a:endParaRPr>
              <a:solidFill>
                <a:schemeClr val="dk1"/>
              </a:solidFill>
            </a:endParaRPr>
          </a:p>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Informs</a:t>
            </a:r>
            <a:r>
              <a:rPr lang="en">
                <a:solidFill>
                  <a:schemeClr val="dk1"/>
                </a:solidFill>
              </a:rPr>
              <a:t>: </a:t>
            </a:r>
            <a:r>
              <a:rPr lang="en" i="1">
                <a:solidFill>
                  <a:schemeClr val="dk1"/>
                </a:solidFill>
              </a:rPr>
              <a:t>α, m</a:t>
            </a:r>
            <a:endParaRPr i="1">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Average minimum time from exposed to infectious ≈ 80 days</a:t>
            </a:r>
            <a:endParaRPr>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Average time from infectious to death ≈ 59 days</a:t>
            </a:r>
            <a:endParaRPr>
              <a:solidFill>
                <a:schemeClr val="dk1"/>
              </a:solidFill>
            </a:endParaRPr>
          </a:p>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Method</a:t>
            </a:r>
            <a:r>
              <a:rPr lang="en">
                <a:solidFill>
                  <a:schemeClr val="dk1"/>
                </a:solidFill>
              </a:rPr>
              <a:t>: Fit growth curves and derived times to infectious and death</a:t>
            </a:r>
            <a:endParaRPr b="1">
              <a:solidFill>
                <a:schemeClr val="dk1"/>
              </a:solidFill>
            </a:endParaRPr>
          </a:p>
        </p:txBody>
      </p:sp>
      <p:pic>
        <p:nvPicPr>
          <p:cNvPr id="272" name="Google Shape;272;p31" title="alpha_data.png"/>
          <p:cNvPicPr preferRelativeResize="0"/>
          <p:nvPr/>
        </p:nvPicPr>
        <p:blipFill>
          <a:blip r:embed="rId3">
            <a:alphaModFix/>
          </a:blip>
          <a:stretch>
            <a:fillRect/>
          </a:stretch>
        </p:blipFill>
        <p:spPr>
          <a:xfrm>
            <a:off x="810149" y="2809091"/>
            <a:ext cx="3421501" cy="1710761"/>
          </a:xfrm>
          <a:prstGeom prst="rect">
            <a:avLst/>
          </a:prstGeom>
          <a:noFill/>
          <a:ln w="8700" cap="flat" cmpd="sng">
            <a:solidFill>
              <a:schemeClr val="dk1"/>
            </a:solidFill>
            <a:prstDash val="solid"/>
            <a:round/>
            <a:headEnd type="none" w="sm" len="sm"/>
            <a:tailEnd type="none" w="sm" len="sm"/>
          </a:ln>
        </p:spPr>
      </p:pic>
      <p:pic>
        <p:nvPicPr>
          <p:cNvPr id="273" name="Google Shape;273;p31" title="m_data.png"/>
          <p:cNvPicPr preferRelativeResize="0"/>
          <p:nvPr/>
        </p:nvPicPr>
        <p:blipFill>
          <a:blip r:embed="rId4">
            <a:alphaModFix/>
          </a:blip>
          <a:stretch>
            <a:fillRect/>
          </a:stretch>
        </p:blipFill>
        <p:spPr>
          <a:xfrm>
            <a:off x="4912349" y="2809103"/>
            <a:ext cx="3421501" cy="1710740"/>
          </a:xfrm>
          <a:prstGeom prst="rect">
            <a:avLst/>
          </a:prstGeom>
          <a:noFill/>
          <a:ln w="8700" cap="flat" cmpd="sng">
            <a:solidFill>
              <a:schemeClr val="dk1"/>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2"/>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9" name="Google Shape;279;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16</a:t>
            </a:fld>
            <a:endParaRPr>
              <a:solidFill>
                <a:schemeClr val="lt1"/>
              </a:solidFill>
            </a:endParaRPr>
          </a:p>
        </p:txBody>
      </p:sp>
      <p:sp>
        <p:nvSpPr>
          <p:cNvPr id="280" name="Google Shape;280;p32"/>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81" name="Google Shape;281;p32"/>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82" name="Google Shape;282;p32"/>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200"/>
              <a:t>Lab Data - Temp. Effect on Progression </a:t>
            </a:r>
            <a:endParaRPr sz="3561"/>
          </a:p>
        </p:txBody>
      </p:sp>
      <p:sp>
        <p:nvSpPr>
          <p:cNvPr id="283" name="Google Shape;283;p32"/>
          <p:cNvSpPr txBox="1"/>
          <p:nvPr/>
        </p:nvSpPr>
        <p:spPr>
          <a:xfrm>
            <a:off x="196943" y="1548878"/>
            <a:ext cx="3421500" cy="2292600"/>
          </a:xfrm>
          <a:prstGeom prst="rect">
            <a:avLst/>
          </a:prstGeom>
          <a:noFill/>
          <a:ln>
            <a:noFill/>
          </a:ln>
        </p:spPr>
        <p:txBody>
          <a:bodyPr spcFirstLastPara="1" wrap="square" lIns="91425" tIns="91425" rIns="91425" bIns="91425" anchor="t" anchorCtr="0">
            <a:spAutoFit/>
          </a:bodyPr>
          <a:lstStyle/>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Purpose</a:t>
            </a:r>
            <a:r>
              <a:rPr lang="en">
                <a:solidFill>
                  <a:schemeClr val="dk1"/>
                </a:solidFill>
              </a:rPr>
              <a:t>: How temperature affects progression</a:t>
            </a:r>
            <a:endParaRPr>
              <a:solidFill>
                <a:schemeClr val="dk1"/>
              </a:solidFill>
            </a:endParaRPr>
          </a:p>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Informs</a:t>
            </a:r>
            <a:r>
              <a:rPr lang="en">
                <a:solidFill>
                  <a:schemeClr val="dk1"/>
                </a:solidFill>
              </a:rPr>
              <a:t>: Temperature effect on </a:t>
            </a:r>
            <a:r>
              <a:rPr lang="en" i="1">
                <a:solidFill>
                  <a:schemeClr val="dk1"/>
                </a:solidFill>
              </a:rPr>
              <a:t>β</a:t>
            </a:r>
            <a:endParaRPr i="1">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Higher temperature seems to increase the likelihood of cancer progression</a:t>
            </a:r>
            <a:endParaRPr>
              <a:solidFill>
                <a:schemeClr val="dk1"/>
              </a:solidFill>
            </a:endParaRPr>
          </a:p>
          <a:p>
            <a:pPr marL="12700" lvl="0" indent="0" algn="l" rtl="0">
              <a:lnSpc>
                <a:spcPct val="125454"/>
              </a:lnSpc>
              <a:spcBef>
                <a:spcPts val="0"/>
              </a:spcBef>
              <a:spcAft>
                <a:spcPts val="0"/>
              </a:spcAft>
              <a:buClr>
                <a:schemeClr val="accent5"/>
              </a:buClr>
              <a:buSzPts val="1100"/>
              <a:buFont typeface="Arial"/>
              <a:buNone/>
            </a:pPr>
            <a:r>
              <a:rPr lang="en" b="1">
                <a:solidFill>
                  <a:schemeClr val="dk1"/>
                </a:solidFill>
              </a:rPr>
              <a:t>Method</a:t>
            </a:r>
            <a:r>
              <a:rPr lang="en">
                <a:solidFill>
                  <a:schemeClr val="dk1"/>
                </a:solidFill>
              </a:rPr>
              <a:t>: Logistic regression on binary progression</a:t>
            </a:r>
            <a:endParaRPr b="1">
              <a:solidFill>
                <a:schemeClr val="dk1"/>
              </a:solidFill>
            </a:endParaRPr>
          </a:p>
        </p:txBody>
      </p:sp>
      <p:pic>
        <p:nvPicPr>
          <p:cNvPr id="284" name="Google Shape;284;p32" title="temp_progression.png"/>
          <p:cNvPicPr preferRelativeResize="0"/>
          <p:nvPr/>
        </p:nvPicPr>
        <p:blipFill>
          <a:blip r:embed="rId3">
            <a:alphaModFix/>
          </a:blip>
          <a:stretch>
            <a:fillRect/>
          </a:stretch>
        </p:blipFill>
        <p:spPr>
          <a:xfrm>
            <a:off x="3931015" y="1546293"/>
            <a:ext cx="4541425" cy="2838390"/>
          </a:xfrm>
          <a:prstGeom prst="rect">
            <a:avLst/>
          </a:prstGeom>
          <a:noFill/>
          <a:ln w="9525" cap="flat" cmpd="sng">
            <a:solidFill>
              <a:schemeClr val="dk1"/>
            </a:solidFill>
            <a:prstDash val="solid"/>
            <a:round/>
            <a:headEnd type="none" w="sm" len="sm"/>
            <a:tailEnd type="none" w="sm" len="sm"/>
          </a:ln>
        </p:spPr>
      </p:pic>
      <p:pic>
        <p:nvPicPr>
          <p:cNvPr id="285" name="Google Shape;285;p32" title="image.png"/>
          <p:cNvPicPr preferRelativeResize="0"/>
          <p:nvPr/>
        </p:nvPicPr>
        <p:blipFill>
          <a:blip r:embed="rId4">
            <a:alphaModFix/>
          </a:blip>
          <a:stretch>
            <a:fillRect/>
          </a:stretch>
        </p:blipFill>
        <p:spPr>
          <a:xfrm>
            <a:off x="258138" y="4122600"/>
            <a:ext cx="3299124" cy="209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3"/>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1" name="Google Shape;29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17</a:t>
            </a:fld>
            <a:endParaRPr>
              <a:solidFill>
                <a:schemeClr val="lt1"/>
              </a:solidFill>
            </a:endParaRPr>
          </a:p>
        </p:txBody>
      </p:sp>
      <p:sp>
        <p:nvSpPr>
          <p:cNvPr id="292" name="Google Shape;292;p33"/>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293" name="Google Shape;293;p33"/>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294" name="Google Shape;294;p33"/>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200"/>
              <a:t>Lab Data - Cell Decay</a:t>
            </a:r>
            <a:endParaRPr sz="3561"/>
          </a:p>
        </p:txBody>
      </p:sp>
      <p:sp>
        <p:nvSpPr>
          <p:cNvPr id="295" name="Google Shape;295;p33"/>
          <p:cNvSpPr txBox="1"/>
          <p:nvPr/>
        </p:nvSpPr>
        <p:spPr>
          <a:xfrm>
            <a:off x="196943" y="1548878"/>
            <a:ext cx="3421500" cy="2292600"/>
          </a:xfrm>
          <a:prstGeom prst="rect">
            <a:avLst/>
          </a:prstGeom>
          <a:noFill/>
          <a:ln>
            <a:noFill/>
          </a:ln>
        </p:spPr>
        <p:txBody>
          <a:bodyPr spcFirstLastPara="1" wrap="square" lIns="91425" tIns="91425" rIns="91425" bIns="91425" anchor="t" anchorCtr="0">
            <a:spAutoFit/>
          </a:bodyPr>
          <a:lstStyle/>
          <a:p>
            <a:pPr marL="12700" lvl="0" indent="0" algn="l" rtl="0">
              <a:lnSpc>
                <a:spcPct val="125454"/>
              </a:lnSpc>
              <a:spcBef>
                <a:spcPts val="0"/>
              </a:spcBef>
              <a:spcAft>
                <a:spcPts val="0"/>
              </a:spcAft>
              <a:buNone/>
            </a:pPr>
            <a:r>
              <a:rPr lang="en" b="1">
                <a:solidFill>
                  <a:schemeClr val="dk1"/>
                </a:solidFill>
              </a:rPr>
              <a:t>Purpose</a:t>
            </a:r>
            <a:r>
              <a:rPr lang="en">
                <a:solidFill>
                  <a:schemeClr val="dk1"/>
                </a:solidFill>
              </a:rPr>
              <a:t>: How temperature affects particle decay</a:t>
            </a:r>
            <a:endParaRPr>
              <a:solidFill>
                <a:schemeClr val="dk1"/>
              </a:solidFill>
            </a:endParaRPr>
          </a:p>
          <a:p>
            <a:pPr marL="12700" lvl="0" indent="0" algn="l" rtl="0">
              <a:lnSpc>
                <a:spcPct val="125454"/>
              </a:lnSpc>
              <a:spcBef>
                <a:spcPts val="0"/>
              </a:spcBef>
              <a:spcAft>
                <a:spcPts val="0"/>
              </a:spcAft>
              <a:buNone/>
            </a:pPr>
            <a:r>
              <a:rPr lang="en" b="1">
                <a:solidFill>
                  <a:schemeClr val="dk1"/>
                </a:solidFill>
              </a:rPr>
              <a:t>Informs</a:t>
            </a:r>
            <a:r>
              <a:rPr lang="en">
                <a:solidFill>
                  <a:schemeClr val="dk1"/>
                </a:solidFill>
              </a:rPr>
              <a:t>: </a:t>
            </a:r>
            <a:r>
              <a:rPr lang="en" i="1">
                <a:solidFill>
                  <a:schemeClr val="dk1"/>
                </a:solidFill>
              </a:rPr>
              <a:t>δ</a:t>
            </a:r>
            <a:r>
              <a:rPr lang="en">
                <a:solidFill>
                  <a:schemeClr val="dk1"/>
                </a:solidFill>
              </a:rPr>
              <a:t>, temperature effect on </a:t>
            </a:r>
            <a:r>
              <a:rPr lang="en" i="1">
                <a:solidFill>
                  <a:schemeClr val="dk1"/>
                </a:solidFill>
              </a:rPr>
              <a:t>δ</a:t>
            </a:r>
            <a:endParaRPr i="1">
              <a:solidFill>
                <a:schemeClr val="dk1"/>
              </a:solidFill>
            </a:endParaRPr>
          </a:p>
          <a:p>
            <a:pPr marL="457200" lvl="0" indent="-317500" algn="l" rtl="0">
              <a:lnSpc>
                <a:spcPct val="125454"/>
              </a:lnSpc>
              <a:spcBef>
                <a:spcPts val="0"/>
              </a:spcBef>
              <a:spcAft>
                <a:spcPts val="0"/>
              </a:spcAft>
              <a:buClr>
                <a:schemeClr val="dk1"/>
              </a:buClr>
              <a:buSzPts val="1400"/>
              <a:buChar char="●"/>
            </a:pPr>
            <a:r>
              <a:rPr lang="en">
                <a:solidFill>
                  <a:schemeClr val="dk1"/>
                </a:solidFill>
              </a:rPr>
              <a:t>Higher temperature increases cell decay rate</a:t>
            </a:r>
            <a:endParaRPr>
              <a:solidFill>
                <a:schemeClr val="dk1"/>
              </a:solidFill>
            </a:endParaRPr>
          </a:p>
          <a:p>
            <a:pPr marL="12700" lvl="0" indent="0" algn="l" rtl="0">
              <a:lnSpc>
                <a:spcPct val="125454"/>
              </a:lnSpc>
              <a:spcBef>
                <a:spcPts val="0"/>
              </a:spcBef>
              <a:spcAft>
                <a:spcPts val="0"/>
              </a:spcAft>
              <a:buNone/>
            </a:pPr>
            <a:r>
              <a:rPr lang="en" b="1">
                <a:solidFill>
                  <a:schemeClr val="dk1"/>
                </a:solidFill>
              </a:rPr>
              <a:t>Method</a:t>
            </a:r>
            <a:r>
              <a:rPr lang="en">
                <a:solidFill>
                  <a:schemeClr val="dk1"/>
                </a:solidFill>
              </a:rPr>
              <a:t>: Fit exponential decay curves and performed regression on rates across temperatures</a:t>
            </a:r>
            <a:endParaRPr b="1">
              <a:solidFill>
                <a:schemeClr val="dk1"/>
              </a:solidFill>
            </a:endParaRPr>
          </a:p>
        </p:txBody>
      </p:sp>
      <p:pic>
        <p:nvPicPr>
          <p:cNvPr id="296" name="Google Shape;296;p33" title="delta_temp.png"/>
          <p:cNvPicPr preferRelativeResize="0"/>
          <p:nvPr/>
        </p:nvPicPr>
        <p:blipFill>
          <a:blip r:embed="rId3">
            <a:alphaModFix/>
          </a:blip>
          <a:stretch>
            <a:fillRect/>
          </a:stretch>
        </p:blipFill>
        <p:spPr>
          <a:xfrm>
            <a:off x="3931025" y="1546288"/>
            <a:ext cx="4541425" cy="2838390"/>
          </a:xfrm>
          <a:prstGeom prst="rect">
            <a:avLst/>
          </a:prstGeom>
          <a:noFill/>
          <a:ln w="9525" cap="flat" cmpd="sng">
            <a:solidFill>
              <a:schemeClr val="dk1"/>
            </a:solidFill>
            <a:prstDash val="solid"/>
            <a:round/>
            <a:headEnd type="none" w="sm" len="sm"/>
            <a:tailEnd type="none" w="sm" len="sm"/>
          </a:ln>
        </p:spPr>
      </p:pic>
      <p:pic>
        <p:nvPicPr>
          <p:cNvPr id="297" name="Google Shape;297;p33" title="image.png"/>
          <p:cNvPicPr preferRelativeResize="0"/>
          <p:nvPr/>
        </p:nvPicPr>
        <p:blipFill>
          <a:blip r:embed="rId4">
            <a:alphaModFix/>
          </a:blip>
          <a:stretch>
            <a:fillRect/>
          </a:stretch>
        </p:blipFill>
        <p:spPr>
          <a:xfrm>
            <a:off x="717075" y="4122590"/>
            <a:ext cx="2381250" cy="228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18</a:t>
            </a:fld>
            <a:endParaRPr>
              <a:solidFill>
                <a:schemeClr val="lt1"/>
              </a:solidFill>
            </a:endParaRPr>
          </a:p>
        </p:txBody>
      </p:sp>
      <p:sp>
        <p:nvSpPr>
          <p:cNvPr id="304" name="Google Shape;304;p34"/>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05" name="Google Shape;305;p34"/>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06" name="Google Shape;306;p34"/>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latin typeface="Cambria Math"/>
                <a:ea typeface="Cambria Math"/>
                <a:cs typeface="Cambria Math"/>
                <a:sym typeface="Cambria Math"/>
              </a:rPr>
              <a:t>Study Sites</a:t>
            </a:r>
            <a:endParaRPr sz="3561"/>
          </a:p>
        </p:txBody>
      </p:sp>
      <p:pic>
        <p:nvPicPr>
          <p:cNvPr id="307" name="Google Shape;307;p34" title="MA_plot.png"/>
          <p:cNvPicPr preferRelativeResize="0"/>
          <p:nvPr/>
        </p:nvPicPr>
        <p:blipFill>
          <a:blip r:embed="rId3">
            <a:alphaModFix/>
          </a:blip>
          <a:stretch>
            <a:fillRect/>
          </a:stretch>
        </p:blipFill>
        <p:spPr>
          <a:xfrm>
            <a:off x="5415618" y="1693062"/>
            <a:ext cx="3395006" cy="2544850"/>
          </a:xfrm>
          <a:prstGeom prst="rect">
            <a:avLst/>
          </a:prstGeom>
          <a:noFill/>
          <a:ln>
            <a:noFill/>
          </a:ln>
        </p:spPr>
      </p:pic>
      <p:pic>
        <p:nvPicPr>
          <p:cNvPr id="308" name="Google Shape;308;p34" title="SURVEY_both_FR.png"/>
          <p:cNvPicPr preferRelativeResize="0"/>
          <p:nvPr/>
        </p:nvPicPr>
        <p:blipFill>
          <a:blip r:embed="rId4">
            <a:alphaModFix/>
          </a:blip>
          <a:stretch>
            <a:fillRect/>
          </a:stretch>
        </p:blipFill>
        <p:spPr>
          <a:xfrm>
            <a:off x="160585" y="1162559"/>
            <a:ext cx="4222152" cy="1737906"/>
          </a:xfrm>
          <a:prstGeom prst="rect">
            <a:avLst/>
          </a:prstGeom>
          <a:noFill/>
          <a:ln>
            <a:noFill/>
          </a:ln>
        </p:spPr>
      </p:pic>
      <p:pic>
        <p:nvPicPr>
          <p:cNvPr id="309" name="Google Shape;309;p34" title="SURVEY_both_PB.png"/>
          <p:cNvPicPr preferRelativeResize="0"/>
          <p:nvPr/>
        </p:nvPicPr>
        <p:blipFill>
          <a:blip r:embed="rId5">
            <a:alphaModFix/>
          </a:blip>
          <a:stretch>
            <a:fillRect/>
          </a:stretch>
        </p:blipFill>
        <p:spPr>
          <a:xfrm>
            <a:off x="160585" y="2904654"/>
            <a:ext cx="4222152" cy="1737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5"/>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5" name="Google Shape;31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19</a:t>
            </a:fld>
            <a:endParaRPr>
              <a:solidFill>
                <a:schemeClr val="lt1"/>
              </a:solidFill>
            </a:endParaRPr>
          </a:p>
        </p:txBody>
      </p:sp>
      <p:sp>
        <p:nvSpPr>
          <p:cNvPr id="316" name="Google Shape;316;p35"/>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17" name="Google Shape;317;p35"/>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18" name="Google Shape;318;p35"/>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latin typeface="Cambria Math"/>
                <a:ea typeface="Cambria Math"/>
                <a:cs typeface="Cambria Math"/>
                <a:sym typeface="Cambria Math"/>
              </a:rPr>
              <a:t>T(t) </a:t>
            </a:r>
            <a:r>
              <a:rPr lang="en" sz="3561"/>
              <a:t>temp function</a:t>
            </a:r>
            <a:endParaRPr sz="3561"/>
          </a:p>
        </p:txBody>
      </p:sp>
      <p:pic>
        <p:nvPicPr>
          <p:cNvPr id="319" name="Google Shape;319;p35" title="SURVEY_temp_FR.png"/>
          <p:cNvPicPr preferRelativeResize="0"/>
          <p:nvPr/>
        </p:nvPicPr>
        <p:blipFill>
          <a:blip r:embed="rId3">
            <a:alphaModFix/>
          </a:blip>
          <a:stretch>
            <a:fillRect/>
          </a:stretch>
        </p:blipFill>
        <p:spPr>
          <a:xfrm>
            <a:off x="182612" y="1863738"/>
            <a:ext cx="4294400" cy="1878800"/>
          </a:xfrm>
          <a:prstGeom prst="rect">
            <a:avLst/>
          </a:prstGeom>
          <a:noFill/>
          <a:ln>
            <a:noFill/>
          </a:ln>
        </p:spPr>
      </p:pic>
      <p:pic>
        <p:nvPicPr>
          <p:cNvPr id="320" name="Google Shape;320;p35" title="SURVEY_temp_PB.png"/>
          <p:cNvPicPr preferRelativeResize="0"/>
          <p:nvPr/>
        </p:nvPicPr>
        <p:blipFill>
          <a:blip r:embed="rId4">
            <a:alphaModFix/>
          </a:blip>
          <a:stretch>
            <a:fillRect/>
          </a:stretch>
        </p:blipFill>
        <p:spPr>
          <a:xfrm>
            <a:off x="4666988" y="1863739"/>
            <a:ext cx="4294400" cy="18787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20</a:t>
            </a:fld>
            <a:endParaRPr>
              <a:solidFill>
                <a:schemeClr val="lt1"/>
              </a:solidFill>
            </a:endParaRPr>
          </a:p>
        </p:txBody>
      </p:sp>
      <p:sp>
        <p:nvSpPr>
          <p:cNvPr id="327" name="Google Shape;327;p36"/>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28" name="Google Shape;328;p36"/>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29" name="Google Shape;329;p36"/>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Observed Seasonality</a:t>
            </a:r>
            <a:endParaRPr sz="3561"/>
          </a:p>
        </p:txBody>
      </p:sp>
      <p:pic>
        <p:nvPicPr>
          <p:cNvPr id="330" name="Google Shape;330;p36" title="seasonal_compare.png"/>
          <p:cNvPicPr preferRelativeResize="0"/>
          <p:nvPr/>
        </p:nvPicPr>
        <p:blipFill>
          <a:blip r:embed="rId3">
            <a:alphaModFix/>
          </a:blip>
          <a:stretch>
            <a:fillRect/>
          </a:stretch>
        </p:blipFill>
        <p:spPr>
          <a:xfrm>
            <a:off x="2968600" y="1640637"/>
            <a:ext cx="5503852" cy="2407926"/>
          </a:xfrm>
          <a:prstGeom prst="rect">
            <a:avLst/>
          </a:prstGeom>
          <a:noFill/>
          <a:ln>
            <a:noFill/>
          </a:ln>
        </p:spPr>
      </p:pic>
      <p:sp>
        <p:nvSpPr>
          <p:cNvPr id="331" name="Google Shape;331;p36"/>
          <p:cNvSpPr txBox="1"/>
          <p:nvPr/>
        </p:nvSpPr>
        <p:spPr>
          <a:xfrm>
            <a:off x="196950" y="1753788"/>
            <a:ext cx="2597100" cy="2181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
                <a:solidFill>
                  <a:schemeClr val="dk1"/>
                </a:solidFill>
              </a:rPr>
              <a:t>Decomposition separates observed S into the repeating seasonal component</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Seasonal effect = how the data consistently rises or falls at certain times of year</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 name="Google Shape;33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21</a:t>
            </a:fld>
            <a:endParaRPr>
              <a:solidFill>
                <a:schemeClr val="lt1"/>
              </a:solidFill>
            </a:endParaRPr>
          </a:p>
        </p:txBody>
      </p:sp>
      <p:sp>
        <p:nvSpPr>
          <p:cNvPr id="338" name="Google Shape;338;p37"/>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39" name="Google Shape;339;p37"/>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pic>
        <p:nvPicPr>
          <p:cNvPr id="340" name="Google Shape;340;p37" title="SURVEY_both_FR.png"/>
          <p:cNvPicPr preferRelativeResize="0"/>
          <p:nvPr/>
        </p:nvPicPr>
        <p:blipFill>
          <a:blip r:embed="rId3">
            <a:alphaModFix/>
          </a:blip>
          <a:stretch>
            <a:fillRect/>
          </a:stretch>
        </p:blipFill>
        <p:spPr>
          <a:xfrm>
            <a:off x="-25" y="764900"/>
            <a:ext cx="9143987" cy="3763858"/>
          </a:xfrm>
          <a:prstGeom prst="rect">
            <a:avLst/>
          </a:prstGeom>
          <a:noFill/>
          <a:ln>
            <a:noFill/>
          </a:ln>
        </p:spPr>
      </p:pic>
      <p:sp>
        <p:nvSpPr>
          <p:cNvPr id="341" name="Google Shape;341;p37"/>
          <p:cNvSpPr/>
          <p:nvPr/>
        </p:nvSpPr>
        <p:spPr>
          <a:xfrm>
            <a:off x="2096828" y="3253244"/>
            <a:ext cx="285000" cy="755700"/>
          </a:xfrm>
          <a:prstGeom prst="ellipse">
            <a:avLst/>
          </a:prstGeom>
          <a:noFill/>
          <a:ln w="45225" cap="flat" cmpd="sng">
            <a:solidFill>
              <a:srgbClr val="0000FF"/>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
        <p:nvSpPr>
          <p:cNvPr id="342" name="Google Shape;342;p37"/>
          <p:cNvSpPr/>
          <p:nvPr/>
        </p:nvSpPr>
        <p:spPr>
          <a:xfrm>
            <a:off x="3702850" y="3257768"/>
            <a:ext cx="285000" cy="755700"/>
          </a:xfrm>
          <a:prstGeom prst="ellipse">
            <a:avLst/>
          </a:prstGeom>
          <a:noFill/>
          <a:ln w="45225" cap="flat" cmpd="sng">
            <a:solidFill>
              <a:srgbClr val="0000FF"/>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
        <p:nvSpPr>
          <p:cNvPr id="343" name="Google Shape;343;p37"/>
          <p:cNvSpPr/>
          <p:nvPr/>
        </p:nvSpPr>
        <p:spPr>
          <a:xfrm>
            <a:off x="2974485" y="3262292"/>
            <a:ext cx="285000" cy="755700"/>
          </a:xfrm>
          <a:prstGeom prst="ellipse">
            <a:avLst/>
          </a:prstGeom>
          <a:noFill/>
          <a:ln w="45225" cap="flat" cmpd="sng">
            <a:solidFill>
              <a:srgbClr val="FF0000"/>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
        <p:nvSpPr>
          <p:cNvPr id="344" name="Google Shape;344;p37"/>
          <p:cNvSpPr/>
          <p:nvPr/>
        </p:nvSpPr>
        <p:spPr>
          <a:xfrm>
            <a:off x="1268935" y="3280388"/>
            <a:ext cx="285000" cy="755700"/>
          </a:xfrm>
          <a:prstGeom prst="ellipse">
            <a:avLst/>
          </a:prstGeom>
          <a:noFill/>
          <a:ln w="45225" cap="flat" cmpd="sng">
            <a:solidFill>
              <a:srgbClr val="FF0000"/>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
        <p:nvSpPr>
          <p:cNvPr id="345" name="Google Shape;345;p37"/>
          <p:cNvSpPr/>
          <p:nvPr/>
        </p:nvSpPr>
        <p:spPr>
          <a:xfrm>
            <a:off x="6118692" y="1444200"/>
            <a:ext cx="285000" cy="248700"/>
          </a:xfrm>
          <a:prstGeom prst="ellipse">
            <a:avLst/>
          </a:prstGeom>
          <a:noFill/>
          <a:ln w="45225" cap="flat" cmpd="sng">
            <a:solidFill>
              <a:srgbClr val="FF0000"/>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
        <p:nvSpPr>
          <p:cNvPr id="346" name="Google Shape;346;p37"/>
          <p:cNvSpPr/>
          <p:nvPr/>
        </p:nvSpPr>
        <p:spPr>
          <a:xfrm>
            <a:off x="7552788" y="1769920"/>
            <a:ext cx="285000" cy="248700"/>
          </a:xfrm>
          <a:prstGeom prst="ellipse">
            <a:avLst/>
          </a:prstGeom>
          <a:noFill/>
          <a:ln w="45225" cap="flat" cmpd="sng">
            <a:solidFill>
              <a:srgbClr val="FF0000"/>
            </a:solidFill>
            <a:prstDash val="solid"/>
            <a:round/>
            <a:headEnd type="none" w="sm" len="sm"/>
            <a:tailEnd type="none" w="sm" len="sm"/>
          </a:ln>
        </p:spPr>
        <p:txBody>
          <a:bodyPr spcFirstLastPara="1" wrap="square" lIns="108575" tIns="108575" rIns="108575" bIns="108575" anchor="ctr" anchorCtr="0">
            <a:noAutofit/>
          </a:bodyPr>
          <a:lstStyle/>
          <a:p>
            <a:pPr marL="0" lvl="0" indent="0" algn="ctr" rtl="0">
              <a:spcBef>
                <a:spcPts val="0"/>
              </a:spcBef>
              <a:spcAft>
                <a:spcPts val="0"/>
              </a:spcAft>
              <a:buNone/>
            </a:pPr>
            <a:endParaRPr sz="1662">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8"/>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 name="Google Shape;3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22</a:t>
            </a:fld>
            <a:endParaRPr>
              <a:solidFill>
                <a:schemeClr val="lt1"/>
              </a:solidFill>
            </a:endParaRPr>
          </a:p>
        </p:txBody>
      </p:sp>
      <p:sp>
        <p:nvSpPr>
          <p:cNvPr id="353" name="Google Shape;353;p38"/>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54" name="Google Shape;354;p38"/>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pic>
        <p:nvPicPr>
          <p:cNvPr id="355" name="Google Shape;355;p38"/>
          <p:cNvPicPr preferRelativeResize="0"/>
          <p:nvPr/>
        </p:nvPicPr>
        <p:blipFill>
          <a:blip r:embed="rId3">
            <a:alphaModFix/>
          </a:blip>
          <a:stretch>
            <a:fillRect/>
          </a:stretch>
        </p:blipFill>
        <p:spPr>
          <a:xfrm>
            <a:off x="460325" y="768096"/>
            <a:ext cx="8223351" cy="37177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9"/>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6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23</a:t>
            </a:fld>
            <a:endParaRPr>
              <a:solidFill>
                <a:schemeClr val="lt1"/>
              </a:solidFill>
            </a:endParaRPr>
          </a:p>
        </p:txBody>
      </p:sp>
      <p:sp>
        <p:nvSpPr>
          <p:cNvPr id="362" name="Google Shape;362;p39"/>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63" name="Google Shape;363;p3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64" name="Google Shape;364;p39"/>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Set-up</a:t>
            </a:r>
            <a:endParaRPr sz="3561"/>
          </a:p>
        </p:txBody>
      </p:sp>
      <p:sp>
        <p:nvSpPr>
          <p:cNvPr id="365" name="Google Shape;365;p39"/>
          <p:cNvSpPr txBox="1"/>
          <p:nvPr/>
        </p:nvSpPr>
        <p:spPr>
          <a:xfrm>
            <a:off x="196950" y="1331375"/>
            <a:ext cx="8275500" cy="2986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solidFill>
                  <a:schemeClr val="dk1"/>
                </a:solidFill>
              </a:rPr>
              <a:t>p(θ) - Priors</a:t>
            </a:r>
            <a:endParaRPr b="1">
              <a:solidFill>
                <a:schemeClr val="dk1"/>
              </a:solidFill>
            </a:endParaRPr>
          </a:p>
          <a:p>
            <a:pPr marL="0" lvl="0" indent="0" algn="l" rtl="0">
              <a:lnSpc>
                <a:spcPct val="150000"/>
              </a:lnSpc>
              <a:spcBef>
                <a:spcPts val="0"/>
              </a:spcBef>
              <a:spcAft>
                <a:spcPts val="0"/>
              </a:spcAft>
              <a:buNone/>
            </a:pPr>
            <a:r>
              <a:rPr lang="en">
                <a:solidFill>
                  <a:schemeClr val="dk1"/>
                </a:solidFill>
              </a:rPr>
              <a:t>Prior distributions for each parameter is defined based on laboratory data</a:t>
            </a:r>
            <a:endParaRPr>
              <a:solidFill>
                <a:schemeClr val="dk1"/>
              </a:solidFill>
            </a:endParaRPr>
          </a:p>
          <a:p>
            <a:pPr marL="0" lvl="0" indent="0" algn="l" rtl="0">
              <a:lnSpc>
                <a:spcPct val="150000"/>
              </a:lnSpc>
              <a:spcBef>
                <a:spcPts val="0"/>
              </a:spcBef>
              <a:spcAft>
                <a:spcPts val="0"/>
              </a:spcAft>
              <a:buNone/>
            </a:pPr>
            <a:endParaRPr b="1">
              <a:solidFill>
                <a:schemeClr val="dk1"/>
              </a:solidFill>
            </a:endParaRPr>
          </a:p>
          <a:p>
            <a:pPr marL="0" lvl="0" indent="0" algn="l" rtl="0">
              <a:lnSpc>
                <a:spcPct val="150000"/>
              </a:lnSpc>
              <a:spcBef>
                <a:spcPts val="0"/>
              </a:spcBef>
              <a:spcAft>
                <a:spcPts val="0"/>
              </a:spcAft>
              <a:buNone/>
            </a:pPr>
            <a:r>
              <a:rPr lang="en" b="1">
                <a:solidFill>
                  <a:schemeClr val="dk1"/>
                </a:solidFill>
              </a:rPr>
              <a:t>p(y|θ) </a:t>
            </a:r>
            <a:r>
              <a:rPr lang="en">
                <a:solidFill>
                  <a:schemeClr val="dk1"/>
                </a:solidFill>
              </a:rPr>
              <a:t>- </a:t>
            </a:r>
            <a:r>
              <a:rPr lang="en" b="1">
                <a:solidFill>
                  <a:schemeClr val="dk1"/>
                </a:solidFill>
              </a:rPr>
              <a:t>Likelihood</a:t>
            </a:r>
            <a:endParaRPr b="1">
              <a:solidFill>
                <a:schemeClr val="dk1"/>
              </a:solidFill>
            </a:endParaRPr>
          </a:p>
          <a:p>
            <a:pPr marL="0" lvl="0" indent="0" algn="l" rtl="0">
              <a:lnSpc>
                <a:spcPct val="150000"/>
              </a:lnSpc>
              <a:spcBef>
                <a:spcPts val="0"/>
              </a:spcBef>
              <a:spcAft>
                <a:spcPts val="0"/>
              </a:spcAft>
              <a:buNone/>
            </a:pPr>
            <a:r>
              <a:rPr lang="en">
                <a:solidFill>
                  <a:schemeClr val="dk1"/>
                </a:solidFill>
              </a:rPr>
              <a:t>How likely the data is given the chosen parameter values</a:t>
            </a:r>
            <a:endParaRPr>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a:solidFill>
                  <a:schemeClr val="dk1"/>
                </a:solidFill>
              </a:rPr>
              <a:t>SEI counts are a noisy sample of the underlying fractions S, E, I</a:t>
            </a:r>
            <a:endParaRPr>
              <a:solidFill>
                <a:schemeClr val="dk1"/>
              </a:solidFill>
            </a:endParaRPr>
          </a:p>
          <a:p>
            <a:pPr marL="914400" lvl="1" indent="-317500" algn="l" rtl="0">
              <a:lnSpc>
                <a:spcPct val="150000"/>
              </a:lnSpc>
              <a:spcBef>
                <a:spcPts val="0"/>
              </a:spcBef>
              <a:spcAft>
                <a:spcPts val="0"/>
              </a:spcAft>
              <a:buClr>
                <a:schemeClr val="dk1"/>
              </a:buClr>
              <a:buSzPts val="1400"/>
              <a:buFont typeface="Cambria Math"/>
              <a:buAutoNum type="alphaLcPeriod"/>
            </a:pPr>
            <a:r>
              <a:rPr lang="en">
                <a:solidFill>
                  <a:schemeClr val="dk1"/>
                </a:solidFill>
                <a:latin typeface="Cambria Math"/>
                <a:ea typeface="Cambria Math"/>
                <a:cs typeface="Cambria Math"/>
                <a:sym typeface="Cambria Math"/>
              </a:rPr>
              <a:t>y(t) ∼ Multinomial(n(t), (S(t), E(t), I(t)))</a:t>
            </a:r>
            <a:endParaRPr>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AutoNum type="arabicPeriod"/>
            </a:pPr>
            <a:r>
              <a:rPr lang="en">
                <a:solidFill>
                  <a:schemeClr val="dk1"/>
                </a:solidFill>
              </a:rPr>
              <a:t>P is noisy eDNA sample of the underlying P fraction</a:t>
            </a:r>
            <a:endParaRPr>
              <a:solidFill>
                <a:schemeClr val="dk1"/>
              </a:solidFill>
            </a:endParaRPr>
          </a:p>
          <a:p>
            <a:pPr marL="914400" lvl="1" indent="-317500" algn="l" rtl="0">
              <a:lnSpc>
                <a:spcPct val="150000"/>
              </a:lnSpc>
              <a:spcBef>
                <a:spcPts val="0"/>
              </a:spcBef>
              <a:spcAft>
                <a:spcPts val="0"/>
              </a:spcAft>
              <a:buClr>
                <a:schemeClr val="dk1"/>
              </a:buClr>
              <a:buSzPts val="1400"/>
              <a:buFont typeface="Cambria Math"/>
              <a:buAutoNum type="alphaLcPeriod"/>
            </a:pPr>
            <a:r>
              <a:rPr lang="en">
                <a:solidFill>
                  <a:schemeClr val="dk1"/>
                </a:solidFill>
                <a:latin typeface="Cambria Math"/>
                <a:ea typeface="Cambria Math"/>
                <a:cs typeface="Cambria Math"/>
                <a:sym typeface="Cambria Math"/>
              </a:rPr>
              <a:t>log(y(t)) ~ N(log(P(t), σ)</a:t>
            </a:r>
            <a:endParaRPr>
              <a:solidFill>
                <a:schemeClr val="dk1"/>
              </a:solidFill>
              <a:latin typeface="Cambria Math"/>
              <a:ea typeface="Cambria Math"/>
              <a:cs typeface="Cambria Math"/>
              <a:sym typeface="Cambria Math"/>
            </a:endParaRPr>
          </a:p>
        </p:txBody>
      </p:sp>
      <p:sp>
        <p:nvSpPr>
          <p:cNvPr id="366" name="Google Shape;366;p39"/>
          <p:cNvSpPr txBox="1"/>
          <p:nvPr/>
        </p:nvSpPr>
        <p:spPr>
          <a:xfrm>
            <a:off x="5170225" y="3364275"/>
            <a:ext cx="3786900" cy="10272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2600">
                <a:solidFill>
                  <a:schemeClr val="dk1"/>
                </a:solidFill>
                <a:latin typeface="Cambria Math"/>
                <a:ea typeface="Cambria Math"/>
                <a:cs typeface="Cambria Math"/>
                <a:sym typeface="Cambria Math"/>
              </a:rPr>
              <a:t>p(θ) * p(y|θ) ∝ p(θ|y)</a:t>
            </a:r>
            <a:endParaRPr sz="2600">
              <a:solidFill>
                <a:schemeClr val="dk1"/>
              </a:solidFill>
              <a:latin typeface="Cambria Math"/>
              <a:ea typeface="Cambria Math"/>
              <a:cs typeface="Cambria Math"/>
              <a:sym typeface="Cambria Math"/>
            </a:endParaRPr>
          </a:p>
          <a:p>
            <a:pPr marL="0" lvl="0" indent="0" algn="ctr" rtl="0">
              <a:lnSpc>
                <a:spcPct val="150000"/>
              </a:lnSpc>
              <a:spcBef>
                <a:spcPts val="0"/>
              </a:spcBef>
              <a:spcAft>
                <a:spcPts val="0"/>
              </a:spcAft>
              <a:buNone/>
            </a:pPr>
            <a:r>
              <a:rPr lang="en" sz="1800" b="1">
                <a:solidFill>
                  <a:schemeClr val="dk1"/>
                </a:solidFill>
                <a:latin typeface="DM Sans"/>
                <a:ea typeface="DM Sans"/>
                <a:cs typeface="DM Sans"/>
                <a:sym typeface="DM Sans"/>
              </a:rPr>
              <a:t>Bayes Formula</a:t>
            </a:r>
            <a:endParaRPr sz="1800" b="1">
              <a:solidFill>
                <a:schemeClr val="dk1"/>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0"/>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 name="Google Shape;37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24</a:t>
            </a:fld>
            <a:endParaRPr>
              <a:solidFill>
                <a:schemeClr val="lt1"/>
              </a:solidFill>
            </a:endParaRPr>
          </a:p>
        </p:txBody>
      </p:sp>
      <p:sp>
        <p:nvSpPr>
          <p:cNvPr id="373" name="Google Shape;373;p40"/>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374" name="Google Shape;374;p4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75" name="Google Shape;375;p40"/>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Structural Identifiability</a:t>
            </a:r>
            <a:endParaRPr sz="3561"/>
          </a:p>
        </p:txBody>
      </p:sp>
      <p:sp>
        <p:nvSpPr>
          <p:cNvPr id="376" name="Google Shape;376;p40"/>
          <p:cNvSpPr txBox="1"/>
          <p:nvPr/>
        </p:nvSpPr>
        <p:spPr>
          <a:xfrm>
            <a:off x="196950" y="1331375"/>
            <a:ext cx="8275500" cy="26628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chemeClr val="dk1"/>
              </a:buClr>
              <a:buSzPts val="1400"/>
              <a:buChar char="●"/>
            </a:pPr>
            <a:r>
              <a:rPr lang="en">
                <a:solidFill>
                  <a:schemeClr val="dk1"/>
                </a:solidFill>
              </a:rPr>
              <a:t>To distinguish data limitations from model misspecification</a:t>
            </a:r>
            <a:endParaRPr>
              <a:solidFill>
                <a:schemeClr val="dk1"/>
              </a:solidFill>
            </a:endParaRPr>
          </a:p>
          <a:p>
            <a:pPr marL="457200" lvl="0" indent="-317500" algn="l" rtl="0">
              <a:lnSpc>
                <a:spcPct val="150000"/>
              </a:lnSpc>
              <a:spcBef>
                <a:spcPts val="0"/>
              </a:spcBef>
              <a:spcAft>
                <a:spcPts val="0"/>
              </a:spcAft>
              <a:buClr>
                <a:schemeClr val="dk1"/>
              </a:buClr>
              <a:buSzPts val="1400"/>
              <a:buChar char="●"/>
            </a:pPr>
            <a:r>
              <a:rPr lang="en">
                <a:solidFill>
                  <a:schemeClr val="dk1"/>
                </a:solidFill>
              </a:rPr>
              <a:t>Identifies which parameters and combinations can be uniquely recovered from ideal, noise-free observations</a:t>
            </a:r>
            <a:endParaRPr>
              <a:solidFill>
                <a:schemeClr val="dk1"/>
              </a:solidFill>
            </a:endParaRPr>
          </a:p>
          <a:p>
            <a:pPr marL="457200" lvl="0" indent="-317500" algn="l" rtl="0">
              <a:lnSpc>
                <a:spcPct val="150000"/>
              </a:lnSpc>
              <a:spcBef>
                <a:spcPts val="0"/>
              </a:spcBef>
              <a:spcAft>
                <a:spcPts val="0"/>
              </a:spcAft>
              <a:buClr>
                <a:schemeClr val="dk1"/>
              </a:buClr>
              <a:buSzPts val="1400"/>
              <a:buChar char="●"/>
            </a:pPr>
            <a:r>
              <a:rPr lang="en">
                <a:solidFill>
                  <a:schemeClr val="dk1"/>
                </a:solidFill>
              </a:rPr>
              <a:t>Ran with Julia package</a:t>
            </a:r>
            <a:endParaRPr>
              <a:solidFill>
                <a:schemeClr val="dk1"/>
              </a:solidFill>
            </a:endParaRPr>
          </a:p>
          <a:p>
            <a:pPr marL="457200" lvl="0" indent="-317500" algn="l" rtl="0">
              <a:lnSpc>
                <a:spcPct val="150000"/>
              </a:lnSpc>
              <a:spcBef>
                <a:spcPts val="0"/>
              </a:spcBef>
              <a:spcAft>
                <a:spcPts val="0"/>
              </a:spcAft>
              <a:buClr>
                <a:schemeClr val="dk1"/>
              </a:buClr>
              <a:buSzPts val="1400"/>
              <a:buChar char="●"/>
            </a:pPr>
            <a:r>
              <a:rPr lang="en">
                <a:solidFill>
                  <a:schemeClr val="dk1"/>
                </a:solidFill>
              </a:rPr>
              <a:t>Results:</a:t>
            </a:r>
            <a:endParaRPr>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Initial conditions of SEI proportions and P concentrations</a:t>
            </a:r>
            <a:endParaRPr>
              <a:solidFill>
                <a:schemeClr val="dk1"/>
              </a:solidFill>
            </a:endParaRPr>
          </a:p>
          <a:p>
            <a:pPr marL="914400" lvl="1" indent="-317500" algn="l" rtl="0">
              <a:lnSpc>
                <a:spcPct val="150000"/>
              </a:lnSpc>
              <a:spcBef>
                <a:spcPts val="0"/>
              </a:spcBef>
              <a:spcAft>
                <a:spcPts val="0"/>
              </a:spcAft>
              <a:buClr>
                <a:schemeClr val="dk1"/>
              </a:buClr>
              <a:buSzPts val="1400"/>
              <a:buFont typeface="DM Sans"/>
              <a:buChar char="○"/>
            </a:pPr>
            <a:r>
              <a:rPr lang="en">
                <a:solidFill>
                  <a:schemeClr val="dk1"/>
                </a:solidFill>
              </a:rPr>
              <a:t>Individual terms of temp dependent parameters</a:t>
            </a:r>
            <a:r>
              <a:rPr lang="en">
                <a:solidFill>
                  <a:schemeClr val="dk1"/>
                </a:solidFill>
                <a:latin typeface="DM Sans"/>
                <a:ea typeface="DM Sans"/>
                <a:cs typeface="DM Sans"/>
                <a:sym typeface="DM Sans"/>
              </a:rPr>
              <a:t> (</a:t>
            </a:r>
            <a:r>
              <a:rPr lang="en">
                <a:solidFill>
                  <a:schemeClr val="dk1"/>
                </a:solidFill>
                <a:latin typeface="Cambria Math"/>
                <a:ea typeface="Cambria Math"/>
                <a:cs typeface="Cambria Math"/>
                <a:sym typeface="Cambria Math"/>
              </a:rPr>
              <a:t>a</a:t>
            </a:r>
            <a:r>
              <a:rPr lang="en" baseline="-25000">
                <a:solidFill>
                  <a:schemeClr val="dk1"/>
                </a:solidFill>
                <a:latin typeface="Cambria Math"/>
                <a:ea typeface="Cambria Math"/>
                <a:cs typeface="Cambria Math"/>
                <a:sym typeface="Cambria Math"/>
              </a:rPr>
              <a:t>δ</a:t>
            </a:r>
            <a:r>
              <a:rPr lang="en">
                <a:solidFill>
                  <a:schemeClr val="dk1"/>
                </a:solidFill>
                <a:latin typeface="Cambria Math"/>
                <a:ea typeface="Cambria Math"/>
                <a:cs typeface="Cambria Math"/>
                <a:sym typeface="Cambria Math"/>
              </a:rPr>
              <a:t>, b</a:t>
            </a:r>
            <a:r>
              <a:rPr lang="en" baseline="-25000">
                <a:solidFill>
                  <a:schemeClr val="dk1"/>
                </a:solidFill>
                <a:latin typeface="Cambria Math"/>
                <a:ea typeface="Cambria Math"/>
                <a:cs typeface="Cambria Math"/>
                <a:sym typeface="Cambria Math"/>
              </a:rPr>
              <a:t>δ</a:t>
            </a:r>
            <a:r>
              <a:rPr lang="en">
                <a:solidFill>
                  <a:schemeClr val="dk1"/>
                </a:solidFill>
                <a:latin typeface="Cambria Math"/>
                <a:ea typeface="Cambria Math"/>
                <a:cs typeface="Cambria Math"/>
                <a:sym typeface="Cambria Math"/>
              </a:rPr>
              <a:t>, a</a:t>
            </a:r>
            <a:r>
              <a:rPr lang="en" baseline="-25000">
                <a:solidFill>
                  <a:schemeClr val="dk1"/>
                </a:solidFill>
                <a:latin typeface="Cambria Math"/>
                <a:ea typeface="Cambria Math"/>
                <a:cs typeface="Cambria Math"/>
                <a:sym typeface="Cambria Math"/>
              </a:rPr>
              <a:t>β</a:t>
            </a:r>
            <a:r>
              <a:rPr lang="en">
                <a:solidFill>
                  <a:schemeClr val="dk1"/>
                </a:solidFill>
                <a:latin typeface="Cambria Math"/>
                <a:ea typeface="Cambria Math"/>
                <a:cs typeface="Cambria Math"/>
                <a:sym typeface="Cambria Math"/>
              </a:rPr>
              <a:t>, b</a:t>
            </a:r>
            <a:r>
              <a:rPr lang="en" baseline="-25000">
                <a:solidFill>
                  <a:schemeClr val="dk1"/>
                </a:solidFill>
                <a:latin typeface="Cambria Math"/>
                <a:ea typeface="Cambria Math"/>
                <a:cs typeface="Cambria Math"/>
                <a:sym typeface="Cambria Math"/>
              </a:rPr>
              <a:t>β</a:t>
            </a:r>
            <a:r>
              <a:rPr lang="en">
                <a:solidFill>
                  <a:schemeClr val="dk1"/>
                </a:solidFill>
                <a:latin typeface="DM Sans"/>
                <a:ea typeface="DM Sans"/>
                <a:cs typeface="DM Sans"/>
                <a:sym typeface="DM Sans"/>
              </a:rPr>
              <a:t>)</a:t>
            </a:r>
            <a:endParaRPr>
              <a:solidFill>
                <a:schemeClr val="dk1"/>
              </a:solidFill>
              <a:latin typeface="DM Sans"/>
              <a:ea typeface="DM Sans"/>
              <a:cs typeface="DM Sans"/>
              <a:sym typeface="DM Sans"/>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Everything else is identifiable</a:t>
            </a:r>
            <a:endParaRPr>
              <a:solidFill>
                <a:schemeClr val="dk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1"/>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25</a:t>
            </a:fld>
            <a:endParaRPr>
              <a:solidFill>
                <a:schemeClr val="lt1"/>
              </a:solidFill>
            </a:endParaRPr>
          </a:p>
        </p:txBody>
      </p:sp>
      <p:sp>
        <p:nvSpPr>
          <p:cNvPr id="383" name="Google Shape;383;p41"/>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Agenda</a:t>
            </a:r>
            <a:endParaRPr/>
          </a:p>
        </p:txBody>
      </p:sp>
      <p:sp>
        <p:nvSpPr>
          <p:cNvPr id="384" name="Google Shape;384;p41"/>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a:t>M.S. Defense</a:t>
            </a:r>
            <a:endParaRPr/>
          </a:p>
        </p:txBody>
      </p:sp>
      <p:sp>
        <p:nvSpPr>
          <p:cNvPr id="385" name="Google Shape;385;p41"/>
          <p:cNvSpPr txBox="1"/>
          <p:nvPr/>
        </p:nvSpPr>
        <p:spPr>
          <a:xfrm>
            <a:off x="516425" y="883349"/>
            <a:ext cx="7043700" cy="3376800"/>
          </a:xfrm>
          <a:prstGeom prst="rect">
            <a:avLst/>
          </a:prstGeom>
          <a:noFill/>
          <a:ln>
            <a:noFill/>
          </a:ln>
        </p:spPr>
        <p:txBody>
          <a:bodyPr spcFirstLastPara="1" wrap="square" lIns="91425" tIns="91425" rIns="91425" bIns="91425" anchor="ctr" anchorCtr="0">
            <a:noAutofit/>
          </a:bodyPr>
          <a:lstStyle/>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Introduction</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Research Goals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Methods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chemeClr val="dk1"/>
              </a:buClr>
              <a:buSzPts val="2400"/>
              <a:buFont typeface="Merriweather"/>
              <a:buAutoNum type="arabicPeriod"/>
            </a:pPr>
            <a:r>
              <a:rPr lang="en" sz="2400" b="1">
                <a:solidFill>
                  <a:schemeClr val="dk1"/>
                </a:solidFill>
                <a:latin typeface="Merriweather"/>
                <a:ea typeface="Merriweather"/>
                <a:cs typeface="Merriweather"/>
                <a:sym typeface="Merriweather"/>
              </a:rPr>
              <a:t>Results</a:t>
            </a:r>
            <a:endParaRPr sz="2400" b="1">
              <a:solidFill>
                <a:schemeClr val="dk1"/>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Conclusions</a:t>
            </a:r>
            <a:endParaRPr sz="2400" b="1">
              <a:solidFill>
                <a:srgbClr val="B7B7B7"/>
              </a:solidFill>
              <a:latin typeface="Merriweather"/>
              <a:ea typeface="Merriweather"/>
              <a:cs typeface="Merriweather"/>
              <a:sym typeface="Merriweathe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2"/>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91;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26</a:t>
            </a:fld>
            <a:endParaRPr>
              <a:solidFill>
                <a:schemeClr val="lt1"/>
              </a:solidFill>
            </a:endParaRPr>
          </a:p>
        </p:txBody>
      </p:sp>
      <p:sp>
        <p:nvSpPr>
          <p:cNvPr id="392" name="Google Shape;392;p42"/>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393" name="Google Shape;393;p42"/>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394" name="Google Shape;394;p42"/>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Results</a:t>
            </a:r>
            <a:endParaRPr sz="3561"/>
          </a:p>
        </p:txBody>
      </p:sp>
      <p:pic>
        <p:nvPicPr>
          <p:cNvPr id="395" name="Google Shape;395;p42" title="Model1.png"/>
          <p:cNvPicPr preferRelativeResize="0"/>
          <p:nvPr/>
        </p:nvPicPr>
        <p:blipFill>
          <a:blip r:embed="rId3">
            <a:alphaModFix/>
          </a:blip>
          <a:stretch>
            <a:fillRect/>
          </a:stretch>
        </p:blipFill>
        <p:spPr>
          <a:xfrm>
            <a:off x="434463" y="1214125"/>
            <a:ext cx="4517673" cy="1694131"/>
          </a:xfrm>
          <a:prstGeom prst="rect">
            <a:avLst/>
          </a:prstGeom>
          <a:solidFill>
            <a:schemeClr val="accent3"/>
          </a:solidFill>
          <a:ln w="9525" cap="flat" cmpd="sng">
            <a:solidFill>
              <a:schemeClr val="dk1"/>
            </a:solidFill>
            <a:prstDash val="solid"/>
            <a:round/>
            <a:headEnd type="none" w="sm" len="sm"/>
            <a:tailEnd type="none" w="sm" len="sm"/>
          </a:ln>
        </p:spPr>
      </p:pic>
      <p:pic>
        <p:nvPicPr>
          <p:cNvPr id="396" name="Google Shape;396;p42" title="Model2.png"/>
          <p:cNvPicPr preferRelativeResize="0"/>
          <p:nvPr/>
        </p:nvPicPr>
        <p:blipFill>
          <a:blip r:embed="rId4">
            <a:alphaModFix/>
          </a:blip>
          <a:stretch>
            <a:fillRect/>
          </a:stretch>
        </p:blipFill>
        <p:spPr>
          <a:xfrm>
            <a:off x="4191863" y="1214125"/>
            <a:ext cx="4517673" cy="1694125"/>
          </a:xfrm>
          <a:prstGeom prst="rect">
            <a:avLst/>
          </a:prstGeom>
          <a:solidFill>
            <a:schemeClr val="accent3"/>
          </a:solidFill>
          <a:ln w="9525" cap="flat" cmpd="sng">
            <a:solidFill>
              <a:schemeClr val="dk1"/>
            </a:solidFill>
            <a:prstDash val="solid"/>
            <a:round/>
            <a:headEnd type="none" w="sm" len="sm"/>
            <a:tailEnd type="none" w="sm" len="sm"/>
          </a:ln>
        </p:spPr>
      </p:pic>
      <p:pic>
        <p:nvPicPr>
          <p:cNvPr id="397" name="Google Shape;397;p42" title="Model3.png"/>
          <p:cNvPicPr preferRelativeResize="0"/>
          <p:nvPr/>
        </p:nvPicPr>
        <p:blipFill>
          <a:blip r:embed="rId5">
            <a:alphaModFix/>
          </a:blip>
          <a:stretch>
            <a:fillRect/>
          </a:stretch>
        </p:blipFill>
        <p:spPr>
          <a:xfrm>
            <a:off x="431880" y="2916508"/>
            <a:ext cx="4517683" cy="1694125"/>
          </a:xfrm>
          <a:prstGeom prst="rect">
            <a:avLst/>
          </a:prstGeom>
          <a:solidFill>
            <a:schemeClr val="accent3"/>
          </a:solidFill>
          <a:ln w="9525" cap="flat" cmpd="sng">
            <a:solidFill>
              <a:schemeClr val="dk1"/>
            </a:solidFill>
            <a:prstDash val="solid"/>
            <a:round/>
            <a:headEnd type="none" w="sm" len="sm"/>
            <a:tailEnd type="none" w="sm" len="sm"/>
          </a:ln>
        </p:spPr>
      </p:pic>
      <p:pic>
        <p:nvPicPr>
          <p:cNvPr id="398" name="Google Shape;398;p42" title="Model4.png"/>
          <p:cNvPicPr preferRelativeResize="0"/>
          <p:nvPr/>
        </p:nvPicPr>
        <p:blipFill>
          <a:blip r:embed="rId6">
            <a:alphaModFix/>
          </a:blip>
          <a:stretch>
            <a:fillRect/>
          </a:stretch>
        </p:blipFill>
        <p:spPr>
          <a:xfrm>
            <a:off x="4194393" y="2916508"/>
            <a:ext cx="4517709" cy="169412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3"/>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 name="Google Shape;404;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27</a:t>
            </a:fld>
            <a:endParaRPr>
              <a:solidFill>
                <a:schemeClr val="lt1"/>
              </a:solidFill>
            </a:endParaRPr>
          </a:p>
        </p:txBody>
      </p:sp>
      <p:sp>
        <p:nvSpPr>
          <p:cNvPr id="405" name="Google Shape;405;p43"/>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406" name="Google Shape;406;p43"/>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07" name="Google Shape;407;p43"/>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Comparisons</a:t>
            </a:r>
            <a:endParaRPr sz="3561"/>
          </a:p>
        </p:txBody>
      </p:sp>
      <p:sp>
        <p:nvSpPr>
          <p:cNvPr id="408" name="Google Shape;408;p43"/>
          <p:cNvSpPr txBox="1"/>
          <p:nvPr/>
        </p:nvSpPr>
        <p:spPr>
          <a:xfrm>
            <a:off x="196950" y="1341900"/>
            <a:ext cx="8522700" cy="31035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SzPts val="1400"/>
              <a:buFont typeface="DM Sans"/>
              <a:buChar char="●"/>
            </a:pPr>
            <a:r>
              <a:rPr lang="en" b="1"/>
              <a:t>Quantitatively</a:t>
            </a:r>
            <a:r>
              <a:rPr lang="en"/>
              <a:t>: Pareto smoothed importance sampling with leave-one-out cross validation (PSIS-LOO)</a:t>
            </a:r>
            <a:r>
              <a:rPr lang="en">
                <a:solidFill>
                  <a:schemeClr val="dk1"/>
                </a:solidFill>
              </a:rPr>
              <a:t> (Vehtari et al. 2017)</a:t>
            </a:r>
            <a:endParaRPr>
              <a:solidFill>
                <a:schemeClr val="dk1"/>
              </a:solidFill>
            </a:endParaRPr>
          </a:p>
          <a:p>
            <a:pPr marL="914400" marR="0" lvl="1" indent="-317500" algn="l" rtl="0">
              <a:lnSpc>
                <a:spcPct val="125454"/>
              </a:lnSpc>
              <a:spcBef>
                <a:spcPts val="0"/>
              </a:spcBef>
              <a:spcAft>
                <a:spcPts val="0"/>
              </a:spcAft>
              <a:buSzPts val="1400"/>
              <a:buChar char="○"/>
            </a:pPr>
            <a:r>
              <a:rPr lang="en"/>
              <a:t>Rates model on how it predicts unseen data</a:t>
            </a:r>
            <a:endParaRPr/>
          </a:p>
          <a:p>
            <a:pPr marL="914400" marR="0" lvl="1" indent="-317500" algn="l" rtl="0">
              <a:lnSpc>
                <a:spcPct val="125454"/>
              </a:lnSpc>
              <a:spcBef>
                <a:spcPts val="0"/>
              </a:spcBef>
              <a:spcAft>
                <a:spcPts val="0"/>
              </a:spcAft>
              <a:buSzPts val="1400"/>
              <a:buChar char="○"/>
            </a:pPr>
            <a:r>
              <a:rPr lang="en"/>
              <a:t>Differences in comparisons were less than their standard errors</a:t>
            </a:r>
            <a:endParaRPr/>
          </a:p>
          <a:p>
            <a:pPr marL="914400" marR="0" lvl="1" indent="-317500" algn="l" rtl="0">
              <a:lnSpc>
                <a:spcPct val="125454"/>
              </a:lnSpc>
              <a:spcBef>
                <a:spcPts val="0"/>
              </a:spcBef>
              <a:spcAft>
                <a:spcPts val="0"/>
              </a:spcAft>
              <a:buSzPts val="1400"/>
              <a:buChar char="○"/>
            </a:pPr>
            <a:r>
              <a:rPr lang="en" u="sng"/>
              <a:t>Models cannot be reliably compared by predictive accuracy</a:t>
            </a:r>
            <a:endParaRPr u="sng"/>
          </a:p>
          <a:p>
            <a:pPr marL="457200" marR="0" lvl="0" indent="-317500" algn="l" rtl="0">
              <a:lnSpc>
                <a:spcPct val="125454"/>
              </a:lnSpc>
              <a:spcBef>
                <a:spcPts val="0"/>
              </a:spcBef>
              <a:spcAft>
                <a:spcPts val="0"/>
              </a:spcAft>
              <a:buSzPts val="1400"/>
              <a:buFont typeface="DM Sans"/>
              <a:buChar char="●"/>
            </a:pPr>
            <a:r>
              <a:rPr lang="en" b="1"/>
              <a:t>Quantitatively</a:t>
            </a:r>
            <a:r>
              <a:rPr lang="en"/>
              <a:t>: Posterior Predictive Checks (PPC)</a:t>
            </a:r>
            <a:endParaRPr/>
          </a:p>
          <a:p>
            <a:pPr marL="914400" marR="0" lvl="1" indent="-317500" algn="l" rtl="0">
              <a:lnSpc>
                <a:spcPct val="125454"/>
              </a:lnSpc>
              <a:spcBef>
                <a:spcPts val="0"/>
              </a:spcBef>
              <a:spcAft>
                <a:spcPts val="0"/>
              </a:spcAft>
              <a:buSzPts val="1400"/>
              <a:buChar char="○"/>
            </a:pPr>
            <a:r>
              <a:rPr lang="en"/>
              <a:t>Compute the 95% posterior predictive interval for SEIP using the observation models</a:t>
            </a:r>
            <a:endParaRPr/>
          </a:p>
          <a:p>
            <a:pPr marL="914400" marR="0" lvl="1" indent="-317500" algn="l" rtl="0">
              <a:lnSpc>
                <a:spcPct val="125454"/>
              </a:lnSpc>
              <a:spcBef>
                <a:spcPts val="0"/>
              </a:spcBef>
              <a:spcAft>
                <a:spcPts val="0"/>
              </a:spcAft>
              <a:buSzPts val="1400"/>
              <a:buChar char="○"/>
            </a:pPr>
            <a:r>
              <a:rPr lang="en"/>
              <a:t>Each model showed the same number of observations included in this interval</a:t>
            </a:r>
            <a:endParaRPr/>
          </a:p>
          <a:p>
            <a:pPr marL="914400" lvl="1" indent="-317500" algn="l" rtl="0">
              <a:lnSpc>
                <a:spcPct val="125454"/>
              </a:lnSpc>
              <a:spcBef>
                <a:spcPts val="0"/>
              </a:spcBef>
              <a:spcAft>
                <a:spcPts val="0"/>
              </a:spcAft>
              <a:buSzPts val="1400"/>
              <a:buChar char="○"/>
            </a:pPr>
            <a:r>
              <a:rPr lang="en" u="sng"/>
              <a:t>Models cannot be compared by posterior predictive accuracy</a:t>
            </a:r>
            <a:endParaRPr u="sng"/>
          </a:p>
          <a:p>
            <a:pPr marL="457200" marR="0" lvl="0" indent="-317500" algn="l" rtl="0">
              <a:lnSpc>
                <a:spcPct val="125454"/>
              </a:lnSpc>
              <a:spcBef>
                <a:spcPts val="0"/>
              </a:spcBef>
              <a:spcAft>
                <a:spcPts val="0"/>
              </a:spcAft>
              <a:buSzPts val="1400"/>
              <a:buChar char="●"/>
            </a:pPr>
            <a:r>
              <a:rPr lang="en" b="1"/>
              <a:t>Qualitatively:</a:t>
            </a:r>
            <a:endParaRPr b="1"/>
          </a:p>
          <a:p>
            <a:pPr marL="914400" marR="0" lvl="1" indent="-317500" algn="l" rtl="0">
              <a:lnSpc>
                <a:spcPct val="125454"/>
              </a:lnSpc>
              <a:spcBef>
                <a:spcPts val="0"/>
              </a:spcBef>
              <a:spcAft>
                <a:spcPts val="0"/>
              </a:spcAft>
              <a:buSzPts val="1400"/>
              <a:buChar char="○"/>
            </a:pPr>
            <a:r>
              <a:rPr lang="en"/>
              <a:t>Compare based on biological interpretation and visual seasonal pattern alignment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4"/>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 name="Google Shape;41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28</a:t>
            </a:fld>
            <a:endParaRPr>
              <a:solidFill>
                <a:schemeClr val="lt1"/>
              </a:solidFill>
            </a:endParaRPr>
          </a:p>
        </p:txBody>
      </p:sp>
      <p:sp>
        <p:nvSpPr>
          <p:cNvPr id="415" name="Google Shape;415;p44"/>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416" name="Google Shape;416;p44"/>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17" name="Google Shape;417;p44"/>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PPCs</a:t>
            </a:r>
            <a:endParaRPr sz="3561"/>
          </a:p>
        </p:txBody>
      </p:sp>
      <p:sp>
        <p:nvSpPr>
          <p:cNvPr id="418" name="Google Shape;418;p44"/>
          <p:cNvSpPr txBox="1"/>
          <p:nvPr/>
        </p:nvSpPr>
        <p:spPr>
          <a:xfrm>
            <a:off x="536700" y="1333650"/>
            <a:ext cx="8070600" cy="84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All models show the same result: One or two observations outside of the interval for each trajectory.</a:t>
            </a:r>
            <a:endParaRPr>
              <a:solidFill>
                <a:schemeClr val="dk1"/>
              </a:solidFill>
            </a:endParaRPr>
          </a:p>
        </p:txBody>
      </p:sp>
      <p:pic>
        <p:nvPicPr>
          <p:cNvPr id="419" name="Google Shape;419;p44" title="SEIP_2x2_ppc4.png"/>
          <p:cNvPicPr preferRelativeResize="0"/>
          <p:nvPr/>
        </p:nvPicPr>
        <p:blipFill>
          <a:blip r:embed="rId3">
            <a:alphaModFix/>
          </a:blip>
          <a:stretch>
            <a:fillRect/>
          </a:stretch>
        </p:blipFill>
        <p:spPr>
          <a:xfrm>
            <a:off x="2360887" y="1778188"/>
            <a:ext cx="4422226" cy="2763901"/>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5"/>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 name="Google Shape;425;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29</a:t>
            </a:fld>
            <a:endParaRPr>
              <a:solidFill>
                <a:schemeClr val="lt1"/>
              </a:solidFill>
            </a:endParaRPr>
          </a:p>
        </p:txBody>
      </p:sp>
      <p:sp>
        <p:nvSpPr>
          <p:cNvPr id="426" name="Google Shape;426;p45"/>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427" name="Google Shape;427;p45"/>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28" name="Google Shape;428;p45"/>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Visual Model Comparisons</a:t>
            </a:r>
            <a:endParaRPr sz="3200"/>
          </a:p>
        </p:txBody>
      </p:sp>
      <p:sp>
        <p:nvSpPr>
          <p:cNvPr id="429" name="Google Shape;429;p45"/>
          <p:cNvSpPr txBox="1"/>
          <p:nvPr/>
        </p:nvSpPr>
        <p:spPr>
          <a:xfrm>
            <a:off x="196943" y="1677603"/>
            <a:ext cx="3421500" cy="2555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
                <a:solidFill>
                  <a:schemeClr val="dk1"/>
                </a:solidFill>
              </a:rPr>
              <a:t>All models show a general decrease in disease prevalence over time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Two opposing seasonal patterns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Model 2 - early summer peaks</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Model 3/4 - winter peaks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Model 4 is most similar to model 3</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progression temperature dependence is a driving force of seasonality</a:t>
            </a:r>
            <a:endParaRPr b="1">
              <a:solidFill>
                <a:schemeClr val="dk1"/>
              </a:solidFill>
            </a:endParaRPr>
          </a:p>
        </p:txBody>
      </p:sp>
      <p:pic>
        <p:nvPicPr>
          <p:cNvPr id="430" name="Google Shape;430;p45" title="SEIP_2x2_comparison_data.png"/>
          <p:cNvPicPr preferRelativeResize="0"/>
          <p:nvPr/>
        </p:nvPicPr>
        <p:blipFill>
          <a:blip r:embed="rId3">
            <a:alphaModFix/>
          </a:blip>
          <a:stretch>
            <a:fillRect/>
          </a:stretch>
        </p:blipFill>
        <p:spPr>
          <a:xfrm>
            <a:off x="4107325" y="1466350"/>
            <a:ext cx="3970176" cy="297763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6"/>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6" name="Google Shape;436;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30</a:t>
            </a:fld>
            <a:endParaRPr>
              <a:solidFill>
                <a:schemeClr val="lt1"/>
              </a:solidFill>
            </a:endParaRPr>
          </a:p>
        </p:txBody>
      </p:sp>
      <p:sp>
        <p:nvSpPr>
          <p:cNvPr id="437" name="Google Shape;437;p46"/>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438" name="Google Shape;438;p46"/>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39" name="Google Shape;439;p46"/>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Visual Model Comparisons</a:t>
            </a:r>
            <a:endParaRPr sz="3200"/>
          </a:p>
        </p:txBody>
      </p:sp>
      <p:sp>
        <p:nvSpPr>
          <p:cNvPr id="440" name="Google Shape;440;p46"/>
          <p:cNvSpPr txBox="1"/>
          <p:nvPr/>
        </p:nvSpPr>
        <p:spPr>
          <a:xfrm>
            <a:off x="196943" y="1677603"/>
            <a:ext cx="3421500" cy="1692741"/>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 dirty="0">
                <a:solidFill>
                  <a:schemeClr val="dk1"/>
                </a:solidFill>
              </a:rPr>
              <a:t>Model 4 results in highest P trajectory peaks</a:t>
            </a: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Temperature-dependent decay primarily refines the particle dynamics</a:t>
            </a:r>
          </a:p>
          <a:p>
            <a:pPr marL="457200" lvl="0" indent="-317500" algn="l" rtl="0">
              <a:spcBef>
                <a:spcPts val="0"/>
              </a:spcBef>
              <a:spcAft>
                <a:spcPts val="0"/>
              </a:spcAft>
              <a:buClr>
                <a:schemeClr val="dk1"/>
              </a:buClr>
              <a:buSzPts val="1400"/>
              <a:buChar char="●"/>
            </a:pPr>
            <a:r>
              <a:rPr lang="en" dirty="0">
                <a:solidFill>
                  <a:schemeClr val="dk1"/>
                </a:solidFill>
              </a:rPr>
              <a:t>P is still not at the amplitude as seen in the data</a:t>
            </a:r>
            <a:endParaRPr dirty="0">
              <a:solidFill>
                <a:schemeClr val="dk1"/>
              </a:solidFill>
            </a:endParaRPr>
          </a:p>
        </p:txBody>
      </p:sp>
      <p:pic>
        <p:nvPicPr>
          <p:cNvPr id="441" name="Google Shape;441;p46" title="SEIP_2x2_comparison_zoom.png"/>
          <p:cNvPicPr preferRelativeResize="0"/>
          <p:nvPr/>
        </p:nvPicPr>
        <p:blipFill>
          <a:blip r:embed="rId3">
            <a:alphaModFix/>
          </a:blip>
          <a:stretch>
            <a:fillRect/>
          </a:stretch>
        </p:blipFill>
        <p:spPr>
          <a:xfrm>
            <a:off x="4107325" y="1466338"/>
            <a:ext cx="3970176" cy="297763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7"/>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31</a:t>
            </a:fld>
            <a:endParaRPr>
              <a:solidFill>
                <a:schemeClr val="lt1"/>
              </a:solidFill>
            </a:endParaRPr>
          </a:p>
        </p:txBody>
      </p:sp>
      <p:sp>
        <p:nvSpPr>
          <p:cNvPr id="448" name="Google Shape;448;p47"/>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449" name="Google Shape;449;p47"/>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50" name="Google Shape;450;p47"/>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4 Results</a:t>
            </a:r>
            <a:endParaRPr sz="3561"/>
          </a:p>
        </p:txBody>
      </p:sp>
      <p:sp>
        <p:nvSpPr>
          <p:cNvPr id="451" name="Google Shape;451;p47"/>
          <p:cNvSpPr txBox="1"/>
          <p:nvPr/>
        </p:nvSpPr>
        <p:spPr>
          <a:xfrm>
            <a:off x="196943" y="1673352"/>
            <a:ext cx="3421500" cy="2339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
                <a:solidFill>
                  <a:schemeClr val="dk1"/>
                </a:solidFill>
                <a:latin typeface="Cambria Math"/>
                <a:ea typeface="Cambria Math"/>
                <a:cs typeface="Cambria Math"/>
                <a:sym typeface="Cambria Math"/>
              </a:rPr>
              <a:t>α</a:t>
            </a:r>
            <a:r>
              <a:rPr lang="en">
                <a:solidFill>
                  <a:schemeClr val="dk1"/>
                </a:solidFill>
              </a:rPr>
              <a:t> posterior shifted and is narrower</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longer latent periods than initially assumed</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strong data-driven learning</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latin typeface="Cambria Math"/>
                <a:ea typeface="Cambria Math"/>
                <a:cs typeface="Cambria Math"/>
                <a:sym typeface="Cambria Math"/>
              </a:rPr>
              <a:t>γ</a:t>
            </a:r>
            <a:r>
              <a:rPr lang="en">
                <a:solidFill>
                  <a:schemeClr val="dk1"/>
                </a:solidFill>
              </a:rPr>
              <a:t> posterior narrowed</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data support for a lower emission rate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latin typeface="Cambria Math"/>
                <a:ea typeface="Cambria Math"/>
                <a:cs typeface="Cambria Math"/>
                <a:sym typeface="Cambria Math"/>
              </a:rPr>
              <a:t>m</a:t>
            </a:r>
            <a:r>
              <a:rPr lang="en">
                <a:solidFill>
                  <a:schemeClr val="dk1"/>
                </a:solidFill>
              </a:rPr>
              <a:t> posterior is similar to prior</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weak data influence</a:t>
            </a:r>
            <a:endParaRPr>
              <a:solidFill>
                <a:schemeClr val="dk1"/>
              </a:solidFill>
            </a:endParaRPr>
          </a:p>
        </p:txBody>
      </p:sp>
      <p:pic>
        <p:nvPicPr>
          <p:cNvPr id="452" name="Google Shape;452;p47" title="posterior_prior.png"/>
          <p:cNvPicPr preferRelativeResize="0"/>
          <p:nvPr/>
        </p:nvPicPr>
        <p:blipFill>
          <a:blip r:embed="rId3">
            <a:alphaModFix/>
          </a:blip>
          <a:stretch>
            <a:fillRect/>
          </a:stretch>
        </p:blipFill>
        <p:spPr>
          <a:xfrm>
            <a:off x="3986900" y="1405363"/>
            <a:ext cx="4485550" cy="1962426"/>
          </a:xfrm>
          <a:prstGeom prst="rect">
            <a:avLst/>
          </a:prstGeom>
          <a:noFill/>
          <a:ln w="9525" cap="flat" cmpd="sng">
            <a:solidFill>
              <a:schemeClr val="dk1"/>
            </a:solidFill>
            <a:prstDash val="solid"/>
            <a:round/>
            <a:headEnd type="none" w="sm" len="sm"/>
            <a:tailEnd type="none" w="sm" len="sm"/>
          </a:ln>
        </p:spPr>
      </p:pic>
      <p:pic>
        <p:nvPicPr>
          <p:cNvPr id="453" name="Google Shape;453;p47" title="model_notemp.png"/>
          <p:cNvPicPr preferRelativeResize="0"/>
          <p:nvPr/>
        </p:nvPicPr>
        <p:blipFill>
          <a:blip r:embed="rId4">
            <a:alphaModFix/>
          </a:blip>
          <a:stretch>
            <a:fillRect/>
          </a:stretch>
        </p:blipFill>
        <p:spPr>
          <a:xfrm>
            <a:off x="4910625" y="3462888"/>
            <a:ext cx="2638100" cy="10845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8"/>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 name="Google Shape;45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32</a:t>
            </a:fld>
            <a:endParaRPr>
              <a:solidFill>
                <a:schemeClr val="lt1"/>
              </a:solidFill>
            </a:endParaRPr>
          </a:p>
        </p:txBody>
      </p:sp>
      <p:sp>
        <p:nvSpPr>
          <p:cNvPr id="460" name="Google Shape;460;p48"/>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461" name="Google Shape;461;p48"/>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62" name="Google Shape;462;p48"/>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4 Results</a:t>
            </a:r>
            <a:endParaRPr sz="3561"/>
          </a:p>
        </p:txBody>
      </p:sp>
      <p:sp>
        <p:nvSpPr>
          <p:cNvPr id="463" name="Google Shape;463;p48"/>
          <p:cNvSpPr txBox="1"/>
          <p:nvPr/>
        </p:nvSpPr>
        <p:spPr>
          <a:xfrm>
            <a:off x="536699" y="1357775"/>
            <a:ext cx="807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200"/>
              </a:spcAft>
              <a:buNone/>
            </a:pPr>
            <a:r>
              <a:rPr lang="en">
                <a:solidFill>
                  <a:schemeClr val="dk1"/>
                </a:solidFill>
              </a:rPr>
              <a:t>Beta temperature-dependence and delta rates increase with warmer temperatures, consistent with laboratory evidence.</a:t>
            </a:r>
            <a:endParaRPr>
              <a:solidFill>
                <a:schemeClr val="dk1"/>
              </a:solidFill>
            </a:endParaRPr>
          </a:p>
        </p:txBody>
      </p:sp>
      <p:pic>
        <p:nvPicPr>
          <p:cNvPr id="464" name="Google Shape;464;p48" title="beta_time.png"/>
          <p:cNvPicPr preferRelativeResize="0"/>
          <p:nvPr/>
        </p:nvPicPr>
        <p:blipFill>
          <a:blip r:embed="rId3">
            <a:alphaModFix/>
          </a:blip>
          <a:stretch>
            <a:fillRect/>
          </a:stretch>
        </p:blipFill>
        <p:spPr>
          <a:xfrm>
            <a:off x="654950" y="2303525"/>
            <a:ext cx="3831398" cy="1915699"/>
          </a:xfrm>
          <a:prstGeom prst="rect">
            <a:avLst/>
          </a:prstGeom>
          <a:noFill/>
          <a:ln w="9525" cap="flat" cmpd="sng">
            <a:solidFill>
              <a:schemeClr val="dk1"/>
            </a:solidFill>
            <a:prstDash val="solid"/>
            <a:round/>
            <a:headEnd type="none" w="sm" len="sm"/>
            <a:tailEnd type="none" w="sm" len="sm"/>
          </a:ln>
        </p:spPr>
      </p:pic>
      <p:pic>
        <p:nvPicPr>
          <p:cNvPr id="465" name="Google Shape;465;p48" title="delta_time.png"/>
          <p:cNvPicPr preferRelativeResize="0"/>
          <p:nvPr/>
        </p:nvPicPr>
        <p:blipFill>
          <a:blip r:embed="rId4">
            <a:alphaModFix/>
          </a:blip>
          <a:stretch>
            <a:fillRect/>
          </a:stretch>
        </p:blipFill>
        <p:spPr>
          <a:xfrm>
            <a:off x="4741800" y="2303525"/>
            <a:ext cx="3831398" cy="191569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9"/>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 name="Google Shape;47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33</a:t>
            </a:fld>
            <a:endParaRPr>
              <a:solidFill>
                <a:schemeClr val="lt1"/>
              </a:solidFill>
            </a:endParaRPr>
          </a:p>
        </p:txBody>
      </p:sp>
      <p:sp>
        <p:nvSpPr>
          <p:cNvPr id="472" name="Google Shape;472;p49"/>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473" name="Google Shape;473;p4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74" name="Google Shape;474;p49"/>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Sensitivity</a:t>
            </a:r>
            <a:endParaRPr sz="3561"/>
          </a:p>
        </p:txBody>
      </p:sp>
      <p:sp>
        <p:nvSpPr>
          <p:cNvPr id="475" name="Google Shape;475;p49"/>
          <p:cNvSpPr txBox="1"/>
          <p:nvPr/>
        </p:nvSpPr>
        <p:spPr>
          <a:xfrm>
            <a:off x="258725" y="1493351"/>
            <a:ext cx="2997300" cy="22926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SzPts val="1400"/>
              <a:buFont typeface="DM Sans"/>
              <a:buChar char="●"/>
            </a:pPr>
            <a:r>
              <a:rPr lang="en" dirty="0">
                <a:latin typeface="DM Sans"/>
                <a:ea typeface="DM Sans"/>
                <a:cs typeface="DM Sans"/>
                <a:sym typeface="DM Sans"/>
              </a:rPr>
              <a:t>Overall importance of each parameter on a given seasonal feature evaluated over 5-95% prior intervals</a:t>
            </a:r>
            <a:endParaRPr dirty="0">
              <a:latin typeface="DM Sans"/>
              <a:ea typeface="DM Sans"/>
              <a:cs typeface="DM Sans"/>
              <a:sym typeface="DM Sans"/>
            </a:endParaRPr>
          </a:p>
          <a:p>
            <a:pPr marL="457200" marR="0" lvl="0" indent="-317500" algn="l" rtl="0">
              <a:lnSpc>
                <a:spcPct val="125454"/>
              </a:lnSpc>
              <a:spcBef>
                <a:spcPts val="0"/>
              </a:spcBef>
              <a:spcAft>
                <a:spcPts val="0"/>
              </a:spcAft>
              <a:buSzPts val="1400"/>
              <a:buFont typeface="DM Sans"/>
              <a:buChar char="●"/>
            </a:pPr>
            <a:r>
              <a:rPr lang="en" dirty="0">
                <a:latin typeface="Cambria Math"/>
                <a:ea typeface="Cambria Math"/>
                <a:cs typeface="Cambria Math"/>
                <a:sym typeface="Cambria Math"/>
              </a:rPr>
              <a:t>α</a:t>
            </a:r>
            <a:r>
              <a:rPr lang="en" dirty="0">
                <a:latin typeface="DM Sans"/>
                <a:ea typeface="DM Sans"/>
                <a:cs typeface="DM Sans"/>
                <a:sym typeface="DM Sans"/>
              </a:rPr>
              <a:t> and </a:t>
            </a:r>
            <a:r>
              <a:rPr lang="en" dirty="0">
                <a:latin typeface="Cambria Math"/>
                <a:ea typeface="Cambria Math"/>
                <a:cs typeface="Cambria Math"/>
                <a:sym typeface="Cambria Math"/>
              </a:rPr>
              <a:t>m</a:t>
            </a:r>
            <a:r>
              <a:rPr lang="en" dirty="0">
                <a:latin typeface="DM Sans"/>
                <a:ea typeface="DM Sans"/>
                <a:cs typeface="DM Sans"/>
                <a:sym typeface="DM Sans"/>
              </a:rPr>
              <a:t>: Most influential parameters</a:t>
            </a:r>
            <a:endParaRPr dirty="0">
              <a:latin typeface="DM Sans"/>
              <a:ea typeface="DM Sans"/>
              <a:cs typeface="DM Sans"/>
              <a:sym typeface="DM Sans"/>
            </a:endParaRPr>
          </a:p>
          <a:p>
            <a:pPr marL="457200" marR="0" lvl="0" indent="-317500" algn="l" rtl="0">
              <a:lnSpc>
                <a:spcPct val="125454"/>
              </a:lnSpc>
              <a:spcBef>
                <a:spcPts val="0"/>
              </a:spcBef>
              <a:spcAft>
                <a:spcPts val="0"/>
              </a:spcAft>
              <a:buSzPts val="1400"/>
              <a:buFont typeface="Cambria Math"/>
              <a:buChar char="●"/>
            </a:pPr>
            <a:r>
              <a:rPr lang="en" dirty="0" err="1">
                <a:latin typeface="Cambria Math"/>
                <a:ea typeface="Cambria Math"/>
                <a:cs typeface="Cambria Math"/>
                <a:sym typeface="Cambria Math"/>
              </a:rPr>
              <a:t>γ</a:t>
            </a:r>
            <a:r>
              <a:rPr lang="en" dirty="0">
                <a:latin typeface="DM Sans"/>
                <a:ea typeface="DM Sans"/>
                <a:cs typeface="DM Sans"/>
                <a:sym typeface="DM Sans"/>
              </a:rPr>
              <a:t>: Least influential parameter</a:t>
            </a:r>
            <a:endParaRPr dirty="0">
              <a:latin typeface="DM Sans"/>
              <a:ea typeface="DM Sans"/>
              <a:cs typeface="DM Sans"/>
              <a:sym typeface="DM Sans"/>
            </a:endParaRPr>
          </a:p>
        </p:txBody>
      </p:sp>
      <p:pic>
        <p:nvPicPr>
          <p:cNvPr id="476" name="Google Shape;476;p49" title="morris_mu_star_grid.png"/>
          <p:cNvPicPr preferRelativeResize="0"/>
          <p:nvPr/>
        </p:nvPicPr>
        <p:blipFill>
          <a:blip r:embed="rId3">
            <a:alphaModFix/>
          </a:blip>
          <a:stretch>
            <a:fillRect/>
          </a:stretch>
        </p:blipFill>
        <p:spPr>
          <a:xfrm>
            <a:off x="3331575" y="1693475"/>
            <a:ext cx="5553700" cy="2429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0"/>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 name="Google Shape;482;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34</a:t>
            </a:fld>
            <a:endParaRPr>
              <a:solidFill>
                <a:schemeClr val="lt1"/>
              </a:solidFill>
            </a:endParaRPr>
          </a:p>
        </p:txBody>
      </p:sp>
      <p:sp>
        <p:nvSpPr>
          <p:cNvPr id="483" name="Google Shape;483;p50"/>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484" name="Google Shape;484;p5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85" name="Google Shape;485;p50"/>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Validation</a:t>
            </a:r>
            <a:endParaRPr sz="3561"/>
          </a:p>
        </p:txBody>
      </p:sp>
      <p:sp>
        <p:nvSpPr>
          <p:cNvPr id="486" name="Google Shape;486;p50"/>
          <p:cNvSpPr txBox="1"/>
          <p:nvPr/>
        </p:nvSpPr>
        <p:spPr>
          <a:xfrm>
            <a:off x="196950" y="1331375"/>
            <a:ext cx="8356800" cy="9408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Clr>
                <a:schemeClr val="dk1"/>
              </a:buClr>
              <a:buSzPts val="1400"/>
              <a:buChar char="●"/>
            </a:pPr>
            <a:r>
              <a:rPr lang="en">
                <a:solidFill>
                  <a:schemeClr val="dk1"/>
                </a:solidFill>
              </a:rPr>
              <a:t>Simulated trajectories from prior distributions 100 times  (100 simulated datasets)</a:t>
            </a:r>
            <a:endParaRPr>
              <a:solidFill>
                <a:schemeClr val="dk1"/>
              </a:solidFill>
            </a:endParaRPr>
          </a:p>
          <a:p>
            <a:pPr marL="457200" marR="0" lvl="0" indent="-317500" algn="l" rtl="0">
              <a:lnSpc>
                <a:spcPct val="125454"/>
              </a:lnSpc>
              <a:spcBef>
                <a:spcPts val="0"/>
              </a:spcBef>
              <a:spcAft>
                <a:spcPts val="0"/>
              </a:spcAft>
              <a:buClr>
                <a:schemeClr val="dk1"/>
              </a:buClr>
              <a:buSzPts val="1400"/>
              <a:buChar char="●"/>
            </a:pPr>
            <a:r>
              <a:rPr lang="en">
                <a:solidFill>
                  <a:schemeClr val="dk1"/>
                </a:solidFill>
              </a:rPr>
              <a:t>Calculated posterior estimate 95% interval coverage of simulated parameters</a:t>
            </a:r>
            <a:endParaRPr>
              <a:solidFill>
                <a:schemeClr val="dk1"/>
              </a:solidFill>
            </a:endParaRPr>
          </a:p>
          <a:p>
            <a:pPr marL="457200" marR="0" lvl="0" indent="-317500" algn="l" rtl="0">
              <a:lnSpc>
                <a:spcPct val="125454"/>
              </a:lnSpc>
              <a:spcBef>
                <a:spcPts val="0"/>
              </a:spcBef>
              <a:spcAft>
                <a:spcPts val="0"/>
              </a:spcAft>
              <a:buClr>
                <a:schemeClr val="dk1"/>
              </a:buClr>
              <a:buSzPts val="1400"/>
              <a:buFont typeface="DM Sans"/>
              <a:buChar char="●"/>
            </a:pPr>
            <a:r>
              <a:rPr lang="en">
                <a:solidFill>
                  <a:schemeClr val="dk1"/>
                </a:solidFill>
              </a:rPr>
              <a:t>While overall calibration is good, α is weakly informed by data under the current prior</a:t>
            </a:r>
            <a:endParaRPr>
              <a:solidFill>
                <a:schemeClr val="dk1"/>
              </a:solidFill>
            </a:endParaRPr>
          </a:p>
        </p:txBody>
      </p:sp>
      <p:pic>
        <p:nvPicPr>
          <p:cNvPr id="487" name="Google Shape;487;p50" title="Sim.png"/>
          <p:cNvPicPr preferRelativeResize="0"/>
          <p:nvPr/>
        </p:nvPicPr>
        <p:blipFill>
          <a:blip r:embed="rId3">
            <a:alphaModFix/>
          </a:blip>
          <a:stretch>
            <a:fillRect/>
          </a:stretch>
        </p:blipFill>
        <p:spPr>
          <a:xfrm>
            <a:off x="2850125" y="2397457"/>
            <a:ext cx="5227377" cy="2177225"/>
          </a:xfrm>
          <a:prstGeom prst="rect">
            <a:avLst/>
          </a:prstGeom>
          <a:noFill/>
          <a:ln w="9525" cap="flat" cmpd="sng">
            <a:solidFill>
              <a:schemeClr val="dk1"/>
            </a:solidFill>
            <a:prstDash val="solid"/>
            <a:round/>
            <a:headEnd type="none" w="sm" len="sm"/>
            <a:tailEnd type="none" w="sm" len="sm"/>
          </a:ln>
        </p:spPr>
      </p:pic>
      <p:sp>
        <p:nvSpPr>
          <p:cNvPr id="488" name="Google Shape;488;p50"/>
          <p:cNvSpPr txBox="1"/>
          <p:nvPr/>
        </p:nvSpPr>
        <p:spPr>
          <a:xfrm>
            <a:off x="196950" y="2434237"/>
            <a:ext cx="2369700" cy="1939500"/>
          </a:xfrm>
          <a:prstGeom prst="rect">
            <a:avLst/>
          </a:prstGeom>
          <a:noFill/>
          <a:ln>
            <a:noFill/>
          </a:ln>
        </p:spPr>
        <p:txBody>
          <a:bodyPr spcFirstLastPara="1" wrap="square" lIns="91425" tIns="91425" rIns="91425" bIns="91425" anchor="t" anchorCtr="0">
            <a:noAutofit/>
          </a:bodyPr>
          <a:lstStyle/>
          <a:p>
            <a:pPr marL="0" lvl="0" indent="0" algn="l" rtl="0">
              <a:lnSpc>
                <a:spcPct val="125454"/>
              </a:lnSpc>
              <a:spcBef>
                <a:spcPts val="1200"/>
              </a:spcBef>
              <a:spcAft>
                <a:spcPts val="0"/>
              </a:spcAft>
              <a:buClr>
                <a:schemeClr val="hlink"/>
              </a:buClr>
              <a:buSzPts val="1100"/>
              <a:buFont typeface="Arial"/>
              <a:buNone/>
            </a:pPr>
            <a:r>
              <a:rPr lang="en" dirty="0">
                <a:solidFill>
                  <a:schemeClr val="dk1"/>
                </a:solidFill>
                <a:latin typeface="DM Sans"/>
                <a:ea typeface="DM Sans"/>
                <a:cs typeface="DM Sans"/>
                <a:sym typeface="DM Sans"/>
              </a:rPr>
              <a:t>Results:</a:t>
            </a:r>
            <a:endParaRPr dirty="0">
              <a:solidFill>
                <a:schemeClr val="dk1"/>
              </a:solidFill>
              <a:latin typeface="DM Sans"/>
              <a:ea typeface="DM Sans"/>
              <a:cs typeface="DM Sans"/>
              <a:sym typeface="DM Sans"/>
            </a:endParaRPr>
          </a:p>
          <a:p>
            <a:pPr marL="457200" lvl="0" indent="-317500" algn="l" rtl="0">
              <a:lnSpc>
                <a:spcPct val="125454"/>
              </a:lnSpc>
              <a:spcBef>
                <a:spcPts val="1200"/>
              </a:spcBef>
              <a:spcAft>
                <a:spcPts val="0"/>
              </a:spcAft>
              <a:buClr>
                <a:schemeClr val="dk1"/>
              </a:buClr>
              <a:buSzPts val="1400"/>
              <a:buFont typeface="DM Sans"/>
              <a:buChar char="●"/>
            </a:pPr>
            <a:r>
              <a:rPr lang="en" dirty="0">
                <a:solidFill>
                  <a:schemeClr val="dk1"/>
                </a:solidFill>
                <a:latin typeface="Cambria Math"/>
                <a:ea typeface="Cambria Math"/>
                <a:cs typeface="Cambria Math"/>
                <a:sym typeface="Cambria Math"/>
              </a:rPr>
              <a:t>α:</a:t>
            </a:r>
            <a:r>
              <a:rPr lang="en" dirty="0">
                <a:solidFill>
                  <a:schemeClr val="dk1"/>
                </a:solidFill>
                <a:latin typeface="DM Sans"/>
                <a:ea typeface="DM Sans"/>
                <a:cs typeface="DM Sans"/>
                <a:sym typeface="DM Sans"/>
              </a:rPr>
              <a:t> </a:t>
            </a:r>
            <a:r>
              <a:rPr lang="en" dirty="0">
                <a:solidFill>
                  <a:schemeClr val="dk1"/>
                </a:solidFill>
              </a:rPr>
              <a:t>80% coverage</a:t>
            </a:r>
            <a:endParaRPr dirty="0">
              <a:solidFill>
                <a:schemeClr val="dk1"/>
              </a:solidFill>
            </a:endParaRPr>
          </a:p>
          <a:p>
            <a:pPr marL="457200" lvl="0" indent="-317500" algn="l" rtl="0">
              <a:lnSpc>
                <a:spcPct val="125454"/>
              </a:lnSpc>
              <a:spcBef>
                <a:spcPts val="0"/>
              </a:spcBef>
              <a:spcAft>
                <a:spcPts val="0"/>
              </a:spcAft>
              <a:buClr>
                <a:schemeClr val="dk1"/>
              </a:buClr>
              <a:buSzPts val="1400"/>
              <a:buFont typeface="DM Sans"/>
              <a:buChar char="●"/>
            </a:pPr>
            <a:r>
              <a:rPr lang="en" dirty="0">
                <a:solidFill>
                  <a:schemeClr val="dk1"/>
                </a:solidFill>
                <a:latin typeface="Cambria Math"/>
                <a:ea typeface="Cambria Math"/>
                <a:cs typeface="Cambria Math"/>
                <a:sym typeface="Cambria Math"/>
              </a:rPr>
              <a:t>m</a:t>
            </a:r>
            <a:r>
              <a:rPr lang="en" dirty="0">
                <a:solidFill>
                  <a:schemeClr val="dk1"/>
                </a:solidFill>
                <a:latin typeface="DM Sans"/>
                <a:ea typeface="DM Sans"/>
                <a:cs typeface="DM Sans"/>
                <a:sym typeface="DM Sans"/>
              </a:rPr>
              <a:t>: </a:t>
            </a:r>
            <a:r>
              <a:rPr lang="en" dirty="0">
                <a:solidFill>
                  <a:schemeClr val="dk1"/>
                </a:solidFill>
              </a:rPr>
              <a:t>96% coverage</a:t>
            </a:r>
            <a:endParaRPr dirty="0">
              <a:solidFill>
                <a:schemeClr val="dk1"/>
              </a:solidFill>
            </a:endParaRPr>
          </a:p>
          <a:p>
            <a:pPr marL="457200" lvl="0" indent="-317500" algn="l" rtl="0">
              <a:lnSpc>
                <a:spcPct val="125454"/>
              </a:lnSpc>
              <a:spcBef>
                <a:spcPts val="0"/>
              </a:spcBef>
              <a:spcAft>
                <a:spcPts val="0"/>
              </a:spcAft>
              <a:buClr>
                <a:schemeClr val="dk1"/>
              </a:buClr>
              <a:buSzPts val="1400"/>
              <a:buFont typeface="Cambria Math"/>
              <a:buChar char="●"/>
            </a:pPr>
            <a:r>
              <a:rPr lang="en" dirty="0" err="1">
                <a:solidFill>
                  <a:schemeClr val="dk1"/>
                </a:solidFill>
                <a:latin typeface="Cambria Math"/>
                <a:ea typeface="Cambria Math"/>
                <a:cs typeface="Cambria Math"/>
                <a:sym typeface="Cambria Math"/>
              </a:rPr>
              <a:t>δ</a:t>
            </a:r>
            <a:r>
              <a:rPr lang="en" dirty="0">
                <a:solidFill>
                  <a:schemeClr val="dk1"/>
                </a:solidFill>
                <a:latin typeface="Cambria Math"/>
                <a:ea typeface="Cambria Math"/>
                <a:cs typeface="Cambria Math"/>
                <a:sym typeface="Cambria Math"/>
              </a:rPr>
              <a:t>(T)</a:t>
            </a:r>
            <a:r>
              <a:rPr lang="en" dirty="0">
                <a:solidFill>
                  <a:schemeClr val="dk1"/>
                </a:solidFill>
                <a:latin typeface="DM Sans"/>
                <a:ea typeface="DM Sans"/>
                <a:cs typeface="DM Sans"/>
                <a:sym typeface="DM Sans"/>
              </a:rPr>
              <a:t>: </a:t>
            </a:r>
            <a:r>
              <a:rPr lang="en" dirty="0">
                <a:solidFill>
                  <a:schemeClr val="dk1"/>
                </a:solidFill>
              </a:rPr>
              <a:t>96% coverage</a:t>
            </a:r>
            <a:endParaRPr dirty="0">
              <a:solidFill>
                <a:schemeClr val="dk1"/>
              </a:solidFill>
            </a:endParaRPr>
          </a:p>
          <a:p>
            <a:pPr marL="457200" lvl="0" indent="-317500" algn="l" rtl="0">
              <a:lnSpc>
                <a:spcPct val="125454"/>
              </a:lnSpc>
              <a:spcBef>
                <a:spcPts val="0"/>
              </a:spcBef>
              <a:spcAft>
                <a:spcPts val="0"/>
              </a:spcAft>
              <a:buClr>
                <a:schemeClr val="dk1"/>
              </a:buClr>
              <a:buSzPts val="1400"/>
              <a:buFont typeface="Cambria Math"/>
              <a:buChar char="●"/>
            </a:pPr>
            <a:r>
              <a:rPr lang="en" dirty="0">
                <a:solidFill>
                  <a:schemeClr val="dk1"/>
                </a:solidFill>
                <a:latin typeface="Cambria Math"/>
                <a:ea typeface="Cambria Math"/>
                <a:cs typeface="Cambria Math"/>
                <a:sym typeface="Cambria Math"/>
              </a:rPr>
              <a:t>β(T)</a:t>
            </a:r>
            <a:r>
              <a:rPr lang="en" dirty="0">
                <a:solidFill>
                  <a:schemeClr val="dk1"/>
                </a:solidFill>
                <a:latin typeface="DM Sans"/>
                <a:ea typeface="DM Sans"/>
                <a:cs typeface="DM Sans"/>
                <a:sym typeface="DM Sans"/>
              </a:rPr>
              <a:t>: </a:t>
            </a:r>
            <a:r>
              <a:rPr lang="en" dirty="0">
                <a:solidFill>
                  <a:schemeClr val="dk1"/>
                </a:solidFill>
              </a:rPr>
              <a:t>93% coverage</a:t>
            </a:r>
            <a:endParaRPr dirty="0">
              <a:solidFill>
                <a:schemeClr val="dk1"/>
              </a:solidFill>
            </a:endParaRPr>
          </a:p>
          <a:p>
            <a:pPr marL="457200" lvl="0" indent="-317500" algn="l" rtl="0">
              <a:lnSpc>
                <a:spcPct val="125454"/>
              </a:lnSpc>
              <a:spcBef>
                <a:spcPts val="0"/>
              </a:spcBef>
              <a:spcAft>
                <a:spcPts val="0"/>
              </a:spcAft>
              <a:buClr>
                <a:schemeClr val="dk1"/>
              </a:buClr>
              <a:buSzPts val="1400"/>
              <a:buFont typeface="DM Sans"/>
              <a:buChar char="●"/>
            </a:pPr>
            <a:r>
              <a:rPr lang="en" dirty="0" err="1">
                <a:solidFill>
                  <a:schemeClr val="dk1"/>
                </a:solidFill>
                <a:latin typeface="Cambria Math"/>
                <a:ea typeface="Cambria Math"/>
                <a:cs typeface="Cambria Math"/>
                <a:sym typeface="Cambria Math"/>
              </a:rPr>
              <a:t>γ</a:t>
            </a:r>
            <a:r>
              <a:rPr lang="en" dirty="0">
                <a:solidFill>
                  <a:schemeClr val="dk1"/>
                </a:solidFill>
                <a:latin typeface="DM Sans"/>
                <a:ea typeface="DM Sans"/>
                <a:cs typeface="DM Sans"/>
                <a:sym typeface="DM Sans"/>
              </a:rPr>
              <a:t>: </a:t>
            </a:r>
            <a:r>
              <a:rPr lang="en" dirty="0">
                <a:solidFill>
                  <a:schemeClr val="dk1"/>
                </a:solidFill>
              </a:rPr>
              <a:t>95% coverage</a:t>
            </a:r>
            <a:endParaRPr dirty="0">
              <a:solidFill>
                <a:schemeClr val="dk1"/>
              </a:solidFill>
            </a:endParaRPr>
          </a:p>
          <a:p>
            <a:pPr marL="0" lvl="0" indent="0" algn="l" rtl="0">
              <a:spcBef>
                <a:spcPts val="1200"/>
              </a:spcBef>
              <a:spcAft>
                <a:spcPts val="0"/>
              </a:spcAft>
              <a:buNone/>
            </a:pPr>
            <a:endParaRPr sz="1000" dirty="0">
              <a:solidFill>
                <a:schemeClr val="dk1"/>
              </a:solidFill>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1"/>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35</a:t>
            </a:fld>
            <a:endParaRPr>
              <a:solidFill>
                <a:schemeClr val="lt1"/>
              </a:solidFill>
            </a:endParaRPr>
          </a:p>
        </p:txBody>
      </p:sp>
      <p:sp>
        <p:nvSpPr>
          <p:cNvPr id="495" name="Google Shape;495;p51"/>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496" name="Google Shape;496;p51"/>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497" name="Google Shape;497;p51"/>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Extension - “Model 5”</a:t>
            </a:r>
            <a:endParaRPr sz="3561"/>
          </a:p>
        </p:txBody>
      </p:sp>
      <p:sp>
        <p:nvSpPr>
          <p:cNvPr id="498" name="Google Shape;498;p51"/>
          <p:cNvSpPr txBox="1"/>
          <p:nvPr/>
        </p:nvSpPr>
        <p:spPr>
          <a:xfrm>
            <a:off x="196950" y="1331375"/>
            <a:ext cx="8626200" cy="26004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SzPts val="1400"/>
              <a:buChar char="●"/>
            </a:pPr>
            <a:r>
              <a:rPr lang="en"/>
              <a:t>Spawning could be a reason to why there are summer spikes that the model cannot capture mechanistically</a:t>
            </a:r>
            <a:endParaRPr/>
          </a:p>
          <a:p>
            <a:pPr marL="457200" marR="0" lvl="0" indent="-317500" algn="l" rtl="0">
              <a:lnSpc>
                <a:spcPct val="125454"/>
              </a:lnSpc>
              <a:spcBef>
                <a:spcPts val="0"/>
              </a:spcBef>
              <a:spcAft>
                <a:spcPts val="0"/>
              </a:spcAft>
              <a:buSzPts val="1400"/>
              <a:buChar char="●"/>
            </a:pPr>
            <a:r>
              <a:rPr lang="en"/>
              <a:t>Introducing a particle spike in summer spawning months is a possible model extension</a:t>
            </a:r>
            <a:endParaRPr/>
          </a:p>
          <a:p>
            <a:pPr marL="457200" marR="0" lvl="0" indent="-317500" algn="l" rtl="0">
              <a:lnSpc>
                <a:spcPct val="125454"/>
              </a:lnSpc>
              <a:spcBef>
                <a:spcPts val="0"/>
              </a:spcBef>
              <a:spcAft>
                <a:spcPts val="0"/>
              </a:spcAft>
              <a:buSzPts val="1400"/>
              <a:buChar char="●"/>
            </a:pPr>
            <a:r>
              <a:rPr lang="en"/>
              <a:t>Limited knowledge on spawning and cancer particle emission, and timing of spawning</a:t>
            </a:r>
            <a:endParaRPr/>
          </a:p>
          <a:p>
            <a:pPr marL="457200" marR="0" lvl="0" indent="-317500" algn="l" rtl="0">
              <a:lnSpc>
                <a:spcPct val="125454"/>
              </a:lnSpc>
              <a:spcBef>
                <a:spcPts val="0"/>
              </a:spcBef>
              <a:spcAft>
                <a:spcPts val="0"/>
              </a:spcAft>
              <a:buSzPts val="1400"/>
              <a:buChar char="●"/>
            </a:pPr>
            <a:r>
              <a:rPr lang="en"/>
              <a:t>But still a good theoretical experiment</a:t>
            </a:r>
            <a:endParaRPr/>
          </a:p>
          <a:p>
            <a:pPr marL="0" marR="0" lvl="0" indent="0" algn="l" rtl="0">
              <a:lnSpc>
                <a:spcPct val="125454"/>
              </a:lnSpc>
              <a:spcBef>
                <a:spcPts val="1200"/>
              </a:spcBef>
              <a:spcAft>
                <a:spcPts val="0"/>
              </a:spcAft>
              <a:buNone/>
            </a:pPr>
            <a:endParaRPr/>
          </a:p>
          <a:p>
            <a:pPr marL="457200" marR="0" lvl="0" indent="-317500" algn="l" rtl="0">
              <a:lnSpc>
                <a:spcPct val="125454"/>
              </a:lnSpc>
              <a:spcBef>
                <a:spcPts val="1200"/>
              </a:spcBef>
              <a:spcAft>
                <a:spcPts val="0"/>
              </a:spcAft>
              <a:buSzPts val="1400"/>
              <a:buChar char="●"/>
            </a:pPr>
            <a:r>
              <a:rPr lang="en"/>
              <a:t>Define a pulse equation to introduce an increase in P for a duration of 3-10 days and in the months of May/June (timing and duration inferred by model)</a:t>
            </a:r>
            <a:endParaRPr/>
          </a:p>
        </p:txBody>
      </p:sp>
      <p:pic>
        <p:nvPicPr>
          <p:cNvPr id="499" name="Google Shape;499;p51" title="image.png"/>
          <p:cNvPicPr preferRelativeResize="0"/>
          <p:nvPr/>
        </p:nvPicPr>
        <p:blipFill>
          <a:blip r:embed="rId3">
            <a:alphaModFix/>
          </a:blip>
          <a:stretch>
            <a:fillRect/>
          </a:stretch>
        </p:blipFill>
        <p:spPr>
          <a:xfrm>
            <a:off x="2919413" y="4019674"/>
            <a:ext cx="3305175" cy="485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2"/>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 name="Google Shape;505;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36</a:t>
            </a:fld>
            <a:endParaRPr>
              <a:solidFill>
                <a:schemeClr val="lt1"/>
              </a:solidFill>
            </a:endParaRPr>
          </a:p>
        </p:txBody>
      </p:sp>
      <p:sp>
        <p:nvSpPr>
          <p:cNvPr id="506" name="Google Shape;506;p52"/>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507" name="Google Shape;507;p52"/>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08" name="Google Shape;508;p52"/>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Model Extension - “Model 5”</a:t>
            </a:r>
            <a:endParaRPr sz="3561"/>
          </a:p>
        </p:txBody>
      </p:sp>
      <p:sp>
        <p:nvSpPr>
          <p:cNvPr id="509" name="Google Shape;509;p52"/>
          <p:cNvSpPr txBox="1"/>
          <p:nvPr/>
        </p:nvSpPr>
        <p:spPr>
          <a:xfrm>
            <a:off x="196950" y="1331375"/>
            <a:ext cx="86262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25454"/>
              </a:lnSpc>
              <a:spcBef>
                <a:spcPts val="1200"/>
              </a:spcBef>
              <a:spcAft>
                <a:spcPts val="1200"/>
              </a:spcAft>
              <a:buNone/>
            </a:pPr>
            <a:r>
              <a:rPr lang="en"/>
              <a:t>Ran with fixed parameters from Model 4 and inferring timing/duration of pulse</a:t>
            </a:r>
            <a:endParaRPr/>
          </a:p>
        </p:txBody>
      </p:sp>
      <p:pic>
        <p:nvPicPr>
          <p:cNvPr id="510" name="Google Shape;510;p52" title="Model5_1.png"/>
          <p:cNvPicPr preferRelativeResize="0"/>
          <p:nvPr/>
        </p:nvPicPr>
        <p:blipFill>
          <a:blip r:embed="rId3">
            <a:alphaModFix/>
          </a:blip>
          <a:stretch>
            <a:fillRect/>
          </a:stretch>
        </p:blipFill>
        <p:spPr>
          <a:xfrm>
            <a:off x="1170725" y="1916802"/>
            <a:ext cx="6678651" cy="2504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53"/>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 name="Google Shape;516;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37</a:t>
            </a:fld>
            <a:endParaRPr>
              <a:solidFill>
                <a:schemeClr val="lt1"/>
              </a:solidFill>
            </a:endParaRPr>
          </a:p>
        </p:txBody>
      </p:sp>
      <p:sp>
        <p:nvSpPr>
          <p:cNvPr id="517" name="Google Shape;517;p53"/>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Methods</a:t>
            </a:r>
            <a:endParaRPr/>
          </a:p>
        </p:txBody>
      </p:sp>
      <p:sp>
        <p:nvSpPr>
          <p:cNvPr id="518" name="Google Shape;518;p53"/>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19" name="Google Shape;519;p53"/>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Second Site - Pavilion Beach</a:t>
            </a:r>
            <a:endParaRPr sz="3561"/>
          </a:p>
        </p:txBody>
      </p:sp>
      <p:sp>
        <p:nvSpPr>
          <p:cNvPr id="520" name="Google Shape;520;p53"/>
          <p:cNvSpPr txBox="1"/>
          <p:nvPr/>
        </p:nvSpPr>
        <p:spPr>
          <a:xfrm>
            <a:off x="196943" y="1677603"/>
            <a:ext cx="3421500" cy="2832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
                <a:solidFill>
                  <a:schemeClr val="dk1"/>
                </a:solidFill>
              </a:rPr>
              <a:t>All model trajectories are showing similar patterns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Seasonal drivers cannot be distinguished</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PB does not contain enough information to identify the seasonal mechanism</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Tests generality of the Forest River results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It seems that the April prevalence point is highly influential in the model</a:t>
            </a:r>
            <a:endParaRPr>
              <a:solidFill>
                <a:schemeClr val="dk1"/>
              </a:solidFill>
            </a:endParaRPr>
          </a:p>
        </p:txBody>
      </p:sp>
      <p:pic>
        <p:nvPicPr>
          <p:cNvPr id="521" name="Google Shape;521;p53" title="SEIP_2x2_comparison_data_pb.png"/>
          <p:cNvPicPr preferRelativeResize="0"/>
          <p:nvPr/>
        </p:nvPicPr>
        <p:blipFill>
          <a:blip r:embed="rId3">
            <a:alphaModFix/>
          </a:blip>
          <a:stretch>
            <a:fillRect/>
          </a:stretch>
        </p:blipFill>
        <p:spPr>
          <a:xfrm>
            <a:off x="4288462" y="1386187"/>
            <a:ext cx="4183977" cy="313797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4"/>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 name="Google Shape;527;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38</a:t>
            </a:fld>
            <a:endParaRPr>
              <a:solidFill>
                <a:schemeClr val="lt1"/>
              </a:solidFill>
            </a:endParaRPr>
          </a:p>
        </p:txBody>
      </p:sp>
      <p:sp>
        <p:nvSpPr>
          <p:cNvPr id="528" name="Google Shape;528;p54"/>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529" name="Google Shape;529;p54"/>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30" name="Google Shape;530;p54"/>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Data Limitations</a:t>
            </a:r>
            <a:endParaRPr sz="3561"/>
          </a:p>
        </p:txBody>
      </p:sp>
      <p:sp>
        <p:nvSpPr>
          <p:cNvPr id="531" name="Google Shape;531;p54"/>
          <p:cNvSpPr txBox="1"/>
          <p:nvPr/>
        </p:nvSpPr>
        <p:spPr>
          <a:xfrm>
            <a:off x="196950" y="1331375"/>
            <a:ext cx="8626200" cy="22926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25454"/>
              </a:lnSpc>
              <a:spcBef>
                <a:spcPts val="1200"/>
              </a:spcBef>
              <a:spcAft>
                <a:spcPts val="0"/>
              </a:spcAft>
              <a:buClr>
                <a:schemeClr val="dk1"/>
              </a:buClr>
              <a:buSzPts val="1400"/>
              <a:buChar char="●"/>
            </a:pPr>
            <a:r>
              <a:rPr lang="en">
                <a:solidFill>
                  <a:schemeClr val="dk1"/>
                </a:solidFill>
              </a:rPr>
              <a:t>Available data (laboratory and field data) impose several limitations on model inference</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Progression parameters</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Limits of detection (S and P)</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Survey data resolution</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Low levels of Infectious clams</a:t>
            </a:r>
            <a:endParaRPr>
              <a:solidFill>
                <a:schemeClr val="dk1"/>
              </a:solidFill>
            </a:endParaRPr>
          </a:p>
          <a:p>
            <a:pPr marL="457200" marR="0" lvl="0" indent="-317500" algn="l" rtl="0">
              <a:lnSpc>
                <a:spcPct val="125454"/>
              </a:lnSpc>
              <a:spcBef>
                <a:spcPts val="0"/>
              </a:spcBef>
              <a:spcAft>
                <a:spcPts val="0"/>
              </a:spcAft>
              <a:buClr>
                <a:schemeClr val="dk1"/>
              </a:buClr>
              <a:buSzPts val="1400"/>
              <a:buChar char="●"/>
            </a:pPr>
            <a:r>
              <a:rPr lang="en">
                <a:solidFill>
                  <a:schemeClr val="dk1"/>
                </a:solidFill>
              </a:rPr>
              <a:t>Mechanistic piece of the model is missing</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Spawning</a:t>
            </a:r>
            <a:endParaRPr>
              <a:solidFill>
                <a:schemeClr val="dk1"/>
              </a:solidFill>
            </a:endParaRPr>
          </a:p>
          <a:p>
            <a:pPr marL="914400" marR="0" lvl="1" indent="-317500" algn="l" rtl="0">
              <a:lnSpc>
                <a:spcPct val="125454"/>
              </a:lnSpc>
              <a:spcBef>
                <a:spcPts val="0"/>
              </a:spcBef>
              <a:spcAft>
                <a:spcPts val="0"/>
              </a:spcAft>
              <a:buClr>
                <a:schemeClr val="dk1"/>
              </a:buClr>
              <a:buSzPts val="1400"/>
              <a:buChar char="○"/>
            </a:pPr>
            <a:r>
              <a:rPr lang="en">
                <a:solidFill>
                  <a:schemeClr val="dk1"/>
                </a:solidFill>
              </a:rPr>
              <a:t>Tidal dynamics</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5"/>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 name="Google Shape;537;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39</a:t>
            </a:fld>
            <a:endParaRPr>
              <a:solidFill>
                <a:schemeClr val="lt1"/>
              </a:solidFill>
            </a:endParaRPr>
          </a:p>
        </p:txBody>
      </p:sp>
      <p:sp>
        <p:nvSpPr>
          <p:cNvPr id="538" name="Google Shape;538;p55"/>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Agenda</a:t>
            </a:r>
            <a:endParaRPr/>
          </a:p>
        </p:txBody>
      </p:sp>
      <p:sp>
        <p:nvSpPr>
          <p:cNvPr id="539" name="Google Shape;539;p55"/>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a:t>M.S. Defense</a:t>
            </a:r>
            <a:endParaRPr/>
          </a:p>
        </p:txBody>
      </p:sp>
      <p:sp>
        <p:nvSpPr>
          <p:cNvPr id="540" name="Google Shape;540;p55"/>
          <p:cNvSpPr txBox="1"/>
          <p:nvPr/>
        </p:nvSpPr>
        <p:spPr>
          <a:xfrm>
            <a:off x="516425" y="883349"/>
            <a:ext cx="7043700" cy="3376800"/>
          </a:xfrm>
          <a:prstGeom prst="rect">
            <a:avLst/>
          </a:prstGeom>
          <a:noFill/>
          <a:ln>
            <a:noFill/>
          </a:ln>
        </p:spPr>
        <p:txBody>
          <a:bodyPr spcFirstLastPara="1" wrap="square" lIns="91425" tIns="91425" rIns="91425" bIns="91425" anchor="ctr" anchorCtr="0">
            <a:noAutofit/>
          </a:bodyPr>
          <a:lstStyle/>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Introduction</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Research Goals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Methods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Clr>
                <a:srgbClr val="B7B7B7"/>
              </a:buClr>
              <a:buSzPts val="2400"/>
              <a:buFont typeface="Merriweather"/>
              <a:buAutoNum type="arabicPeriod"/>
            </a:pPr>
            <a:r>
              <a:rPr lang="en" sz="2400" b="1">
                <a:solidFill>
                  <a:srgbClr val="B7B7B7"/>
                </a:solidFill>
                <a:latin typeface="Merriweather"/>
                <a:ea typeface="Merriweather"/>
                <a:cs typeface="Merriweather"/>
                <a:sym typeface="Merriweather"/>
              </a:rPr>
              <a:t>Results</a:t>
            </a:r>
            <a:endParaRPr sz="2400" b="1">
              <a:solidFill>
                <a:srgbClr val="B7B7B7"/>
              </a:solidFill>
              <a:latin typeface="Merriweather"/>
              <a:ea typeface="Merriweather"/>
              <a:cs typeface="Merriweather"/>
              <a:sym typeface="Merriweather"/>
            </a:endParaRPr>
          </a:p>
          <a:p>
            <a:pPr marL="457200" lvl="0" indent="-381000" algn="l" rtl="0">
              <a:lnSpc>
                <a:spcPct val="200000"/>
              </a:lnSpc>
              <a:spcBef>
                <a:spcPts val="0"/>
              </a:spcBef>
              <a:spcAft>
                <a:spcPts val="0"/>
              </a:spcAft>
              <a:buSzPts val="2400"/>
              <a:buFont typeface="Merriweather"/>
              <a:buAutoNum type="arabicPeriod"/>
            </a:pPr>
            <a:r>
              <a:rPr lang="en" sz="2400" b="1">
                <a:latin typeface="Merriweather"/>
                <a:ea typeface="Merriweather"/>
                <a:cs typeface="Merriweather"/>
                <a:sym typeface="Merriweather"/>
              </a:rPr>
              <a:t>Conclusions</a:t>
            </a:r>
            <a:endParaRPr sz="2400" b="1">
              <a:latin typeface="Merriweather"/>
              <a:ea typeface="Merriweather"/>
              <a:cs typeface="Merriweather"/>
              <a:sym typeface="Merriweath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6"/>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6" name="Google Shape;54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40</a:t>
            </a:fld>
            <a:endParaRPr>
              <a:solidFill>
                <a:schemeClr val="lt1"/>
              </a:solidFill>
            </a:endParaRPr>
          </a:p>
        </p:txBody>
      </p:sp>
      <p:sp>
        <p:nvSpPr>
          <p:cNvPr id="547" name="Google Shape;547;p56"/>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Conclusion</a:t>
            </a:r>
            <a:endParaRPr/>
          </a:p>
        </p:txBody>
      </p:sp>
      <p:sp>
        <p:nvSpPr>
          <p:cNvPr id="548" name="Google Shape;548;p56"/>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49" name="Google Shape;549;p56"/>
          <p:cNvSpPr txBox="1"/>
          <p:nvPr/>
        </p:nvSpPr>
        <p:spPr>
          <a:xfrm>
            <a:off x="453025" y="2031316"/>
            <a:ext cx="8019300" cy="651900"/>
          </a:xfrm>
          <a:prstGeom prst="rect">
            <a:avLst/>
          </a:prstGeom>
          <a:noFill/>
          <a:ln>
            <a:noFill/>
          </a:ln>
        </p:spPr>
        <p:txBody>
          <a:bodyPr spcFirstLastPara="1" wrap="square" lIns="0" tIns="45700" rIns="0" bIns="91425" anchor="ctr" anchorCtr="0">
            <a:noAutofit/>
          </a:bodyPr>
          <a:lstStyle/>
          <a:p>
            <a:pPr marL="0" lvl="0" indent="0" algn="l" rtl="0">
              <a:spcBef>
                <a:spcPts val="0"/>
              </a:spcBef>
              <a:spcAft>
                <a:spcPts val="0"/>
              </a:spcAft>
              <a:buNone/>
            </a:pPr>
            <a:endParaRPr>
              <a:solidFill>
                <a:schemeClr val="dk1"/>
              </a:solidFill>
            </a:endParaRPr>
          </a:p>
        </p:txBody>
      </p:sp>
      <p:sp>
        <p:nvSpPr>
          <p:cNvPr id="550" name="Google Shape;550;p56"/>
          <p:cNvSpPr txBox="1"/>
          <p:nvPr/>
        </p:nvSpPr>
        <p:spPr>
          <a:xfrm>
            <a:off x="201168" y="1335024"/>
            <a:ext cx="8019300" cy="2806500"/>
          </a:xfrm>
          <a:prstGeom prst="rect">
            <a:avLst/>
          </a:prstGeom>
          <a:solidFill>
            <a:schemeClr val="lt1"/>
          </a:solidFill>
          <a:ln>
            <a:noFill/>
          </a:ln>
        </p:spPr>
        <p:txBody>
          <a:bodyPr spcFirstLastPara="1" wrap="square" lIns="0" tIns="45700" rIns="0" bIns="91425" anchor="ctr" anchorCtr="0">
            <a:spAutoFit/>
          </a:bodyPr>
          <a:lstStyle/>
          <a:p>
            <a:pPr marL="457200" lvl="0" indent="-317500" algn="l" rtl="0">
              <a:lnSpc>
                <a:spcPct val="100000"/>
              </a:lnSpc>
              <a:spcBef>
                <a:spcPts val="0"/>
              </a:spcBef>
              <a:spcAft>
                <a:spcPts val="0"/>
              </a:spcAft>
              <a:buClr>
                <a:schemeClr val="dk1"/>
              </a:buClr>
              <a:buSzPts val="1400"/>
              <a:buChar char="●"/>
            </a:pPr>
            <a:r>
              <a:rPr lang="en" b="1">
                <a:solidFill>
                  <a:schemeClr val="dk1"/>
                </a:solidFill>
              </a:rPr>
              <a:t>Epidemiological Model of BTN - </a:t>
            </a:r>
            <a:r>
              <a:rPr lang="en">
                <a:solidFill>
                  <a:schemeClr val="dk1"/>
                </a:solidFill>
              </a:rPr>
              <a:t>Synthesized laboratory experiments and field surveys to quantify progression and transmission parameters.</a:t>
            </a:r>
            <a:endParaRPr>
              <a:solidFill>
                <a:schemeClr val="dk1"/>
              </a:solidFill>
            </a:endParaRPr>
          </a:p>
          <a:p>
            <a:pPr marL="457200" lvl="0" indent="-317500" algn="l" rtl="0">
              <a:lnSpc>
                <a:spcPct val="100000"/>
              </a:lnSpc>
              <a:spcBef>
                <a:spcPts val="1000"/>
              </a:spcBef>
              <a:spcAft>
                <a:spcPts val="0"/>
              </a:spcAft>
              <a:buClr>
                <a:schemeClr val="dk1"/>
              </a:buClr>
              <a:buSzPts val="1400"/>
              <a:buChar char="●"/>
            </a:pPr>
            <a:r>
              <a:rPr lang="en" b="1">
                <a:solidFill>
                  <a:schemeClr val="dk1"/>
                </a:solidFill>
              </a:rPr>
              <a:t>Disease Seasonality and Driving Force in Forest River - </a:t>
            </a:r>
            <a:r>
              <a:rPr lang="en">
                <a:solidFill>
                  <a:schemeClr val="dk1"/>
                </a:solidFill>
              </a:rPr>
              <a:t>Temperature-dependent progression is the driving force of BTN seasonality in Forest River. Under these model assumptions, increasing ocean temps will increase prevalence.</a:t>
            </a:r>
            <a:endParaRPr>
              <a:solidFill>
                <a:schemeClr val="dk1"/>
              </a:solidFill>
            </a:endParaRPr>
          </a:p>
          <a:p>
            <a:pPr marL="457200" lvl="0" indent="-317500" algn="l" rtl="0">
              <a:lnSpc>
                <a:spcPct val="100000"/>
              </a:lnSpc>
              <a:spcBef>
                <a:spcPts val="1000"/>
              </a:spcBef>
              <a:spcAft>
                <a:spcPts val="0"/>
              </a:spcAft>
              <a:buClr>
                <a:schemeClr val="dk1"/>
              </a:buClr>
              <a:buSzPts val="1400"/>
              <a:buChar char="●"/>
            </a:pPr>
            <a:r>
              <a:rPr lang="en" b="1">
                <a:solidFill>
                  <a:schemeClr val="dk1"/>
                </a:solidFill>
              </a:rPr>
              <a:t>Model Generality - </a:t>
            </a:r>
            <a:r>
              <a:rPr lang="en">
                <a:solidFill>
                  <a:schemeClr val="dk1"/>
                </a:solidFill>
              </a:rPr>
              <a:t>Seasonality is identifiable in Forest River, but not in Pavilion Beach under the same model, indicating differences in the site-specific processes governing BTN dynamics.</a:t>
            </a:r>
            <a:endParaRPr>
              <a:solidFill>
                <a:schemeClr val="dk1"/>
              </a:solidFill>
            </a:endParaRPr>
          </a:p>
          <a:p>
            <a:pPr marL="457200" lvl="0" indent="-317500" algn="l" rtl="0">
              <a:lnSpc>
                <a:spcPct val="100000"/>
              </a:lnSpc>
              <a:spcBef>
                <a:spcPts val="1000"/>
              </a:spcBef>
              <a:spcAft>
                <a:spcPts val="0"/>
              </a:spcAft>
              <a:buClr>
                <a:schemeClr val="dk1"/>
              </a:buClr>
              <a:buSzPts val="1400"/>
              <a:buChar char="●"/>
            </a:pPr>
            <a:r>
              <a:rPr lang="en" b="1">
                <a:solidFill>
                  <a:schemeClr val="dk1"/>
                </a:solidFill>
              </a:rPr>
              <a:t>Foundational Model - </a:t>
            </a:r>
            <a:r>
              <a:rPr lang="en">
                <a:solidFill>
                  <a:schemeClr val="dk1"/>
                </a:solidFill>
              </a:rPr>
              <a:t>Can be updated with new information of BTN dynamics.</a:t>
            </a:r>
            <a:endParaRPr>
              <a:solidFill>
                <a:schemeClr val="dk1"/>
              </a:solidFill>
            </a:endParaRPr>
          </a:p>
          <a:p>
            <a:pPr marL="457200" lvl="0" indent="-317500" algn="l" rtl="0">
              <a:lnSpc>
                <a:spcPct val="100000"/>
              </a:lnSpc>
              <a:spcBef>
                <a:spcPts val="1000"/>
              </a:spcBef>
              <a:spcAft>
                <a:spcPts val="1000"/>
              </a:spcAft>
              <a:buClr>
                <a:schemeClr val="dk1"/>
              </a:buClr>
              <a:buSzPts val="1400"/>
              <a:buChar char="●"/>
            </a:pPr>
            <a:r>
              <a:rPr lang="en" b="1">
                <a:solidFill>
                  <a:schemeClr val="dk1"/>
                </a:solidFill>
              </a:rPr>
              <a:t>Bayesian Disease Modeling - </a:t>
            </a:r>
            <a:r>
              <a:rPr lang="en">
                <a:solidFill>
                  <a:schemeClr val="dk1"/>
                </a:solidFill>
              </a:rPr>
              <a:t>Demonstrated Bayesian modeling in an epidemiological system to uncover underlying processes even with sparse, noisy, and limited data.</a:t>
            </a:r>
            <a:endParaRPr>
              <a:solidFill>
                <a:schemeClr val="dk1"/>
              </a:solidFill>
            </a:endParaRPr>
          </a:p>
        </p:txBody>
      </p:sp>
      <p:sp>
        <p:nvSpPr>
          <p:cNvPr id="551" name="Google Shape;551;p56"/>
          <p:cNvSpPr txBox="1">
            <a:spLocks noGrp="1"/>
          </p:cNvSpPr>
          <p:nvPr>
            <p:ph type="title" idx="4294967295"/>
          </p:nvPr>
        </p:nvSpPr>
        <p:spPr>
          <a:xfrm>
            <a:off x="1066488" y="631438"/>
            <a:ext cx="7011000" cy="6363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561"/>
              <a:t>Conclusions</a:t>
            </a:r>
            <a:endParaRPr sz="356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57"/>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7" name="Google Shape;557;p57"/>
          <p:cNvSpPr txBox="1">
            <a:spLocks noGrp="1"/>
          </p:cNvSpPr>
          <p:nvPr>
            <p:ph type="body" idx="1"/>
          </p:nvPr>
        </p:nvSpPr>
        <p:spPr>
          <a:xfrm>
            <a:off x="196950" y="1335025"/>
            <a:ext cx="8275500" cy="2283300"/>
          </a:xfrm>
          <a:prstGeom prst="rect">
            <a:avLst/>
          </a:prstGeom>
        </p:spPr>
        <p:txBody>
          <a:bodyPr spcFirstLastPara="1" wrap="square" lIns="91425" tIns="91425" rIns="91425" bIns="91425" anchor="t" anchorCtr="0">
            <a:noAutofit/>
          </a:bodyPr>
          <a:lstStyle/>
          <a:p>
            <a:pPr marL="457200" lvl="0" indent="-317500" algn="l" rtl="0">
              <a:lnSpc>
                <a:spcPct val="125454"/>
              </a:lnSpc>
              <a:spcBef>
                <a:spcPts val="0"/>
              </a:spcBef>
              <a:spcAft>
                <a:spcPts val="0"/>
              </a:spcAft>
              <a:buSzPts val="1400"/>
              <a:buChar char="●"/>
            </a:pPr>
            <a:r>
              <a:rPr lang="en" sz="1400"/>
              <a:t>Compare model predictions to 2025 collection for validation</a:t>
            </a:r>
            <a:endParaRPr sz="1400"/>
          </a:p>
          <a:p>
            <a:pPr marL="457200" lvl="0" indent="-317500" algn="l" rtl="0">
              <a:lnSpc>
                <a:spcPct val="125454"/>
              </a:lnSpc>
              <a:spcBef>
                <a:spcPts val="0"/>
              </a:spcBef>
              <a:spcAft>
                <a:spcPts val="0"/>
              </a:spcAft>
              <a:buSzPts val="1400"/>
              <a:buChar char="●"/>
            </a:pPr>
            <a:r>
              <a:rPr lang="en" sz="1400"/>
              <a:t>Apply to different sites to assess differences in transmission across populations and test with other temperature gradients</a:t>
            </a:r>
            <a:endParaRPr sz="1400"/>
          </a:p>
          <a:p>
            <a:pPr marL="457200" lvl="0" indent="-317500" algn="l" rtl="0">
              <a:lnSpc>
                <a:spcPct val="125454"/>
              </a:lnSpc>
              <a:spcBef>
                <a:spcPts val="0"/>
              </a:spcBef>
              <a:spcAft>
                <a:spcPts val="0"/>
              </a:spcAft>
              <a:buSzPts val="1400"/>
              <a:buChar char="●"/>
            </a:pPr>
            <a:r>
              <a:rPr lang="en" sz="1400"/>
              <a:t>Apply to other species</a:t>
            </a:r>
            <a:endParaRPr sz="1400"/>
          </a:p>
          <a:p>
            <a:pPr marL="914400" lvl="1" indent="-317500" algn="l" rtl="0">
              <a:lnSpc>
                <a:spcPct val="125454"/>
              </a:lnSpc>
              <a:spcBef>
                <a:spcPts val="0"/>
              </a:spcBef>
              <a:spcAft>
                <a:spcPts val="0"/>
              </a:spcAft>
              <a:buSzPts val="1400"/>
              <a:buChar char="○"/>
            </a:pPr>
            <a:r>
              <a:rPr lang="en" sz="1400"/>
              <a:t>Cockles</a:t>
            </a:r>
            <a:endParaRPr sz="1400"/>
          </a:p>
        </p:txBody>
      </p:sp>
      <p:sp>
        <p:nvSpPr>
          <p:cNvPr id="558" name="Google Shape;558;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
        <p:nvSpPr>
          <p:cNvPr id="559" name="Google Shape;559;p57"/>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Conclusion</a:t>
            </a:r>
            <a:endParaRPr/>
          </a:p>
        </p:txBody>
      </p:sp>
      <p:sp>
        <p:nvSpPr>
          <p:cNvPr id="560" name="Google Shape;560;p57"/>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61" name="Google Shape;561;p57"/>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41</a:t>
            </a:fld>
            <a:endParaRPr>
              <a:solidFill>
                <a:schemeClr val="lt1"/>
              </a:solidFill>
            </a:endParaRPr>
          </a:p>
        </p:txBody>
      </p:sp>
      <p:pic>
        <p:nvPicPr>
          <p:cNvPr id="562" name="Google Shape;562;p57" title="Screenshot 2025-12-07 at 12.28.07 PM.png"/>
          <p:cNvPicPr preferRelativeResize="0"/>
          <p:nvPr/>
        </p:nvPicPr>
        <p:blipFill>
          <a:blip r:embed="rId3">
            <a:alphaModFix/>
          </a:blip>
          <a:stretch>
            <a:fillRect/>
          </a:stretch>
        </p:blipFill>
        <p:spPr>
          <a:xfrm>
            <a:off x="5973175" y="2668409"/>
            <a:ext cx="2104300" cy="1765740"/>
          </a:xfrm>
          <a:prstGeom prst="rect">
            <a:avLst/>
          </a:prstGeom>
          <a:noFill/>
          <a:ln>
            <a:noFill/>
          </a:ln>
        </p:spPr>
      </p:pic>
      <p:pic>
        <p:nvPicPr>
          <p:cNvPr id="563" name="Google Shape;563;p57" title="Screenshot 2025-12-07 at 12.27.33 PM.png"/>
          <p:cNvPicPr preferRelativeResize="0"/>
          <p:nvPr/>
        </p:nvPicPr>
        <p:blipFill>
          <a:blip r:embed="rId4">
            <a:alphaModFix/>
          </a:blip>
          <a:stretch>
            <a:fillRect/>
          </a:stretch>
        </p:blipFill>
        <p:spPr>
          <a:xfrm>
            <a:off x="3564451" y="2662915"/>
            <a:ext cx="2104289" cy="1776732"/>
          </a:xfrm>
          <a:prstGeom prst="rect">
            <a:avLst/>
          </a:prstGeom>
          <a:noFill/>
          <a:ln>
            <a:noFill/>
          </a:ln>
        </p:spPr>
      </p:pic>
      <p:sp>
        <p:nvSpPr>
          <p:cNvPr id="564" name="Google Shape;564;p57"/>
          <p:cNvSpPr txBox="1"/>
          <p:nvPr/>
        </p:nvSpPr>
        <p:spPr>
          <a:xfrm>
            <a:off x="5206000" y="1037500"/>
            <a:ext cx="1129800" cy="5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M Sans Light"/>
                <a:ea typeface="DM Sans Light"/>
                <a:cs typeface="DM Sans Light"/>
                <a:sym typeface="DM Sans Light"/>
              </a:rPr>
              <a:t>Puget Sound, WA</a:t>
            </a:r>
            <a:endParaRPr sz="1200">
              <a:solidFill>
                <a:schemeClr val="lt1"/>
              </a:solidFill>
              <a:latin typeface="DM Sans Light"/>
              <a:ea typeface="DM Sans Light"/>
              <a:cs typeface="DM Sans Light"/>
              <a:sym typeface="DM Sans Light"/>
            </a:endParaRPr>
          </a:p>
        </p:txBody>
      </p:sp>
      <p:sp>
        <p:nvSpPr>
          <p:cNvPr id="565" name="Google Shape;565;p57"/>
          <p:cNvSpPr txBox="1"/>
          <p:nvPr/>
        </p:nvSpPr>
        <p:spPr>
          <a:xfrm>
            <a:off x="6042300" y="2121109"/>
            <a:ext cx="2035200" cy="54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East Coast, MA &amp; ME</a:t>
            </a:r>
            <a:endParaRPr sz="1200">
              <a:solidFill>
                <a:schemeClr val="dk1"/>
              </a:solidFill>
            </a:endParaRPr>
          </a:p>
        </p:txBody>
      </p:sp>
      <p:sp>
        <p:nvSpPr>
          <p:cNvPr id="566" name="Google Shape;566;p57"/>
          <p:cNvSpPr txBox="1">
            <a:spLocks noGrp="1"/>
          </p:cNvSpPr>
          <p:nvPr>
            <p:ph type="title"/>
          </p:nvPr>
        </p:nvSpPr>
        <p:spPr>
          <a:xfrm>
            <a:off x="1066488" y="631438"/>
            <a:ext cx="7011000" cy="63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561"/>
              <a:t>Future Directions</a:t>
            </a:r>
            <a:endParaRPr sz="3561"/>
          </a:p>
        </p:txBody>
      </p:sp>
      <p:sp>
        <p:nvSpPr>
          <p:cNvPr id="567" name="Google Shape;567;p57"/>
          <p:cNvSpPr txBox="1"/>
          <p:nvPr/>
        </p:nvSpPr>
        <p:spPr>
          <a:xfrm>
            <a:off x="3564325" y="2121109"/>
            <a:ext cx="2104200" cy="54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rPr>
              <a:t>Puget Sound, WA</a:t>
            </a:r>
            <a:endParaRPr sz="12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8"/>
          <p:cNvSpPr/>
          <p:nvPr/>
        </p:nvSpPr>
        <p:spPr>
          <a:xfrm>
            <a:off x="0" y="4642575"/>
            <a:ext cx="9144000" cy="501000"/>
          </a:xfrm>
          <a:prstGeom prst="rect">
            <a:avLst/>
          </a:pr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3" name="Google Shape;573;p58"/>
          <p:cNvSpPr txBox="1">
            <a:spLocks noGrp="1"/>
          </p:cNvSpPr>
          <p:nvPr>
            <p:ph type="title"/>
          </p:nvPr>
        </p:nvSpPr>
        <p:spPr>
          <a:xfrm>
            <a:off x="228425" y="196725"/>
            <a:ext cx="4312500" cy="67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 You</a:t>
            </a:r>
            <a:endParaRPr/>
          </a:p>
        </p:txBody>
      </p:sp>
      <p:sp>
        <p:nvSpPr>
          <p:cNvPr id="574" name="Google Shape;574;p58"/>
          <p:cNvSpPr txBox="1">
            <a:spLocks noGrp="1"/>
          </p:cNvSpPr>
          <p:nvPr>
            <p:ph type="body" idx="1"/>
          </p:nvPr>
        </p:nvSpPr>
        <p:spPr>
          <a:xfrm>
            <a:off x="228425" y="786675"/>
            <a:ext cx="5745900" cy="4356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a:t>Adviser:</a:t>
            </a:r>
            <a:r>
              <a:rPr lang="en" sz="1400"/>
              <a:t> Dr. Michael Metzger, University of Washington</a:t>
            </a:r>
            <a:endParaRPr sz="1400"/>
          </a:p>
          <a:p>
            <a:pPr marL="0" lvl="0" indent="0" algn="l" rtl="0">
              <a:lnSpc>
                <a:spcPct val="115000"/>
              </a:lnSpc>
              <a:spcBef>
                <a:spcPts val="0"/>
              </a:spcBef>
              <a:spcAft>
                <a:spcPts val="0"/>
              </a:spcAft>
              <a:buNone/>
            </a:pPr>
            <a:r>
              <a:rPr lang="en" sz="1400" b="1"/>
              <a:t>Committee</a:t>
            </a:r>
            <a:r>
              <a:rPr lang="en" sz="1400"/>
              <a:t> </a:t>
            </a:r>
            <a:endParaRPr sz="1400"/>
          </a:p>
          <a:p>
            <a:pPr marL="457200" lvl="0" indent="-317500" algn="l" rtl="0">
              <a:lnSpc>
                <a:spcPct val="115000"/>
              </a:lnSpc>
              <a:spcBef>
                <a:spcPts val="0"/>
              </a:spcBef>
              <a:spcAft>
                <a:spcPts val="0"/>
              </a:spcAft>
              <a:buSzPts val="1400"/>
              <a:buChar char="●"/>
            </a:pPr>
            <a:r>
              <a:rPr lang="en" sz="1400"/>
              <a:t>Dr. Rob Noble, City St. George’s, University of London</a:t>
            </a:r>
            <a:endParaRPr sz="1400"/>
          </a:p>
          <a:p>
            <a:pPr marL="457200" lvl="0" indent="-317500" algn="l" rtl="0">
              <a:lnSpc>
                <a:spcPct val="115000"/>
              </a:lnSpc>
              <a:spcBef>
                <a:spcPts val="0"/>
              </a:spcBef>
              <a:spcAft>
                <a:spcPts val="0"/>
              </a:spcAft>
              <a:buSzPts val="1400"/>
              <a:buChar char="●"/>
            </a:pPr>
            <a:r>
              <a:rPr lang="en" sz="1400"/>
              <a:t>Dr. Chelsea Wood, University of Washington</a:t>
            </a:r>
            <a:endParaRPr sz="1400"/>
          </a:p>
          <a:p>
            <a:pPr marL="457200" lvl="0" indent="-317500" algn="l" rtl="0">
              <a:lnSpc>
                <a:spcPct val="115000"/>
              </a:lnSpc>
              <a:spcBef>
                <a:spcPts val="0"/>
              </a:spcBef>
              <a:spcAft>
                <a:spcPts val="0"/>
              </a:spcAft>
              <a:buSzPts val="1400"/>
              <a:buChar char="●"/>
            </a:pPr>
            <a:r>
              <a:rPr lang="en" sz="1400"/>
              <a:t>Dr. Alison Feder, University of Washington</a:t>
            </a:r>
            <a:endParaRPr sz="600" b="1"/>
          </a:p>
          <a:p>
            <a:pPr marL="0" lvl="0" indent="0" algn="l" rtl="0">
              <a:lnSpc>
                <a:spcPct val="115000"/>
              </a:lnSpc>
              <a:spcBef>
                <a:spcPts val="0"/>
              </a:spcBef>
              <a:spcAft>
                <a:spcPts val="0"/>
              </a:spcAft>
              <a:buNone/>
            </a:pPr>
            <a:r>
              <a:rPr lang="en" sz="1400" b="1"/>
              <a:t>Metzger Lab</a:t>
            </a:r>
            <a:endParaRPr sz="1400" b="1"/>
          </a:p>
          <a:p>
            <a:pPr marL="457200" lvl="0" indent="-317500" algn="l" rtl="0">
              <a:lnSpc>
                <a:spcPct val="115000"/>
              </a:lnSpc>
              <a:spcBef>
                <a:spcPts val="0"/>
              </a:spcBef>
              <a:spcAft>
                <a:spcPts val="0"/>
              </a:spcAft>
              <a:buSzPts val="1400"/>
              <a:buChar char="●"/>
            </a:pPr>
            <a:r>
              <a:rPr lang="en" sz="1400"/>
              <a:t>Fiona Garrett</a:t>
            </a:r>
            <a:endParaRPr sz="1400"/>
          </a:p>
          <a:p>
            <a:pPr marL="457200" lvl="0" indent="-317500" algn="l" rtl="0">
              <a:lnSpc>
                <a:spcPct val="115000"/>
              </a:lnSpc>
              <a:spcBef>
                <a:spcPts val="0"/>
              </a:spcBef>
              <a:spcAft>
                <a:spcPts val="0"/>
              </a:spcAft>
              <a:buSzPts val="1400"/>
              <a:buChar char="●"/>
            </a:pPr>
            <a:r>
              <a:rPr lang="en" sz="1400"/>
              <a:t>Peter Smith</a:t>
            </a:r>
            <a:endParaRPr sz="1400"/>
          </a:p>
          <a:p>
            <a:pPr marL="457200" lvl="0" indent="-317500" algn="l" rtl="0">
              <a:lnSpc>
                <a:spcPct val="115000"/>
              </a:lnSpc>
              <a:spcBef>
                <a:spcPts val="0"/>
              </a:spcBef>
              <a:spcAft>
                <a:spcPts val="0"/>
              </a:spcAft>
              <a:buSzPts val="1400"/>
              <a:buChar char="●"/>
            </a:pPr>
            <a:r>
              <a:rPr lang="en" sz="1400"/>
              <a:t>Zach Child</a:t>
            </a:r>
            <a:endParaRPr sz="1400"/>
          </a:p>
          <a:p>
            <a:pPr marL="0" lvl="0" indent="0" algn="l" rtl="0">
              <a:lnSpc>
                <a:spcPct val="115000"/>
              </a:lnSpc>
              <a:spcBef>
                <a:spcPts val="0"/>
              </a:spcBef>
              <a:spcAft>
                <a:spcPts val="0"/>
              </a:spcAft>
              <a:buNone/>
            </a:pPr>
            <a:r>
              <a:rPr lang="en" sz="1400" b="1"/>
              <a:t>Past lab members</a:t>
            </a:r>
            <a:endParaRPr sz="1400" b="1"/>
          </a:p>
          <a:p>
            <a:pPr marL="457200" lvl="0" indent="-317500" algn="l" rtl="0">
              <a:lnSpc>
                <a:spcPct val="115000"/>
              </a:lnSpc>
              <a:spcBef>
                <a:spcPts val="0"/>
              </a:spcBef>
              <a:spcAft>
                <a:spcPts val="0"/>
              </a:spcAft>
              <a:buSzPts val="1400"/>
              <a:buChar char="●"/>
            </a:pPr>
            <a:r>
              <a:rPr lang="en" sz="1400"/>
              <a:t>Sydney Weinandt</a:t>
            </a:r>
            <a:endParaRPr sz="1400"/>
          </a:p>
          <a:p>
            <a:pPr marL="457200" lvl="0" indent="-317500" algn="l" rtl="0">
              <a:lnSpc>
                <a:spcPct val="115000"/>
              </a:lnSpc>
              <a:spcBef>
                <a:spcPts val="0"/>
              </a:spcBef>
              <a:spcAft>
                <a:spcPts val="0"/>
              </a:spcAft>
              <a:buSzPts val="1400"/>
              <a:buChar char="●"/>
            </a:pPr>
            <a:r>
              <a:rPr lang="en" sz="1400"/>
              <a:t>Marisa Yonemitsu</a:t>
            </a:r>
            <a:endParaRPr sz="1400"/>
          </a:p>
          <a:p>
            <a:pPr marL="457200" lvl="0" indent="-317500" algn="l" rtl="0">
              <a:lnSpc>
                <a:spcPct val="115000"/>
              </a:lnSpc>
              <a:spcBef>
                <a:spcPts val="0"/>
              </a:spcBef>
              <a:spcAft>
                <a:spcPts val="0"/>
              </a:spcAft>
              <a:buSzPts val="1400"/>
              <a:buChar char="●"/>
            </a:pPr>
            <a:r>
              <a:rPr lang="en" sz="1400"/>
              <a:t>Rachael Giersch</a:t>
            </a:r>
            <a:endParaRPr sz="1400"/>
          </a:p>
          <a:p>
            <a:pPr marL="457200" lvl="0" indent="-317500" algn="l" rtl="0">
              <a:lnSpc>
                <a:spcPct val="115000"/>
              </a:lnSpc>
              <a:spcBef>
                <a:spcPts val="0"/>
              </a:spcBef>
              <a:spcAft>
                <a:spcPts val="0"/>
              </a:spcAft>
              <a:buSzPts val="1400"/>
              <a:buChar char="●"/>
            </a:pPr>
            <a:r>
              <a:rPr lang="en" sz="1400"/>
              <a:t>Sam Hart </a:t>
            </a:r>
            <a:endParaRPr sz="1400"/>
          </a:p>
          <a:p>
            <a:pPr marL="457200" lvl="0" indent="-317500" algn="l" rtl="0">
              <a:lnSpc>
                <a:spcPct val="115000"/>
              </a:lnSpc>
              <a:spcBef>
                <a:spcPts val="0"/>
              </a:spcBef>
              <a:spcAft>
                <a:spcPts val="0"/>
              </a:spcAft>
              <a:buSzPts val="1400"/>
              <a:buChar char="●"/>
            </a:pPr>
            <a:r>
              <a:rPr lang="en" sz="1400"/>
              <a:t>Jordana Sevigny</a:t>
            </a:r>
            <a:endParaRPr sz="1400"/>
          </a:p>
        </p:txBody>
      </p:sp>
      <p:sp>
        <p:nvSpPr>
          <p:cNvPr id="575" name="Google Shape;575;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
        <p:nvSpPr>
          <p:cNvPr id="576" name="Google Shape;576;p58"/>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577" name="Google Shape;577;p58"/>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lt1"/>
                </a:solidFill>
              </a:rPr>
              <a:t>42</a:t>
            </a:fld>
            <a:endParaRPr>
              <a:solidFill>
                <a:schemeClr val="lt1"/>
              </a:solidFill>
            </a:endParaRPr>
          </a:p>
        </p:txBody>
      </p:sp>
      <p:pic>
        <p:nvPicPr>
          <p:cNvPr id="578" name="Google Shape;578;p58"/>
          <p:cNvPicPr preferRelativeResize="0"/>
          <p:nvPr/>
        </p:nvPicPr>
        <p:blipFill>
          <a:blip r:embed="rId3">
            <a:alphaModFix/>
          </a:blip>
          <a:stretch>
            <a:fillRect/>
          </a:stretch>
        </p:blipFill>
        <p:spPr>
          <a:xfrm>
            <a:off x="3545231" y="3191799"/>
            <a:ext cx="1993350" cy="850825"/>
          </a:xfrm>
          <a:prstGeom prst="rect">
            <a:avLst/>
          </a:prstGeom>
          <a:noFill/>
          <a:ln>
            <a:noFill/>
          </a:ln>
        </p:spPr>
      </p:pic>
      <p:pic>
        <p:nvPicPr>
          <p:cNvPr id="579" name="Google Shape;579;p58"/>
          <p:cNvPicPr preferRelativeResize="0"/>
          <p:nvPr/>
        </p:nvPicPr>
        <p:blipFill>
          <a:blip r:embed="rId4">
            <a:alphaModFix/>
          </a:blip>
          <a:stretch>
            <a:fillRect/>
          </a:stretch>
        </p:blipFill>
        <p:spPr>
          <a:xfrm>
            <a:off x="7467406" y="2596149"/>
            <a:ext cx="949900" cy="939100"/>
          </a:xfrm>
          <a:prstGeom prst="rect">
            <a:avLst/>
          </a:prstGeom>
          <a:noFill/>
          <a:ln>
            <a:noFill/>
          </a:ln>
        </p:spPr>
      </p:pic>
      <p:pic>
        <p:nvPicPr>
          <p:cNvPr id="580" name="Google Shape;580;p58"/>
          <p:cNvPicPr preferRelativeResize="0"/>
          <p:nvPr/>
        </p:nvPicPr>
        <p:blipFill>
          <a:blip r:embed="rId5">
            <a:alphaModFix/>
          </a:blip>
          <a:stretch>
            <a:fillRect/>
          </a:stretch>
        </p:blipFill>
        <p:spPr>
          <a:xfrm>
            <a:off x="7467407" y="3559546"/>
            <a:ext cx="949900" cy="960828"/>
          </a:xfrm>
          <a:prstGeom prst="rect">
            <a:avLst/>
          </a:prstGeom>
          <a:noFill/>
          <a:ln>
            <a:noFill/>
          </a:ln>
        </p:spPr>
      </p:pic>
      <p:pic>
        <p:nvPicPr>
          <p:cNvPr id="581" name="Google Shape;581;p58"/>
          <p:cNvPicPr preferRelativeResize="0"/>
          <p:nvPr/>
        </p:nvPicPr>
        <p:blipFill>
          <a:blip r:embed="rId6">
            <a:alphaModFix/>
          </a:blip>
          <a:stretch>
            <a:fillRect/>
          </a:stretch>
        </p:blipFill>
        <p:spPr>
          <a:xfrm>
            <a:off x="5742755" y="3783552"/>
            <a:ext cx="1363675" cy="610597"/>
          </a:xfrm>
          <a:prstGeom prst="rect">
            <a:avLst/>
          </a:prstGeom>
          <a:noFill/>
          <a:ln>
            <a:noFill/>
          </a:ln>
        </p:spPr>
      </p:pic>
      <p:pic>
        <p:nvPicPr>
          <p:cNvPr id="582" name="Google Shape;582;p58"/>
          <p:cNvPicPr preferRelativeResize="0"/>
          <p:nvPr/>
        </p:nvPicPr>
        <p:blipFill>
          <a:blip r:embed="rId7">
            <a:alphaModFix/>
          </a:blip>
          <a:stretch>
            <a:fillRect/>
          </a:stretch>
        </p:blipFill>
        <p:spPr>
          <a:xfrm>
            <a:off x="5742744" y="2730249"/>
            <a:ext cx="1363675" cy="670900"/>
          </a:xfrm>
          <a:prstGeom prst="rect">
            <a:avLst/>
          </a:prstGeom>
          <a:noFill/>
          <a:ln>
            <a:noFill/>
          </a:ln>
        </p:spPr>
      </p:pic>
      <p:pic>
        <p:nvPicPr>
          <p:cNvPr id="583" name="Google Shape;583;p58" title="IMG_7842.jpeg"/>
          <p:cNvPicPr preferRelativeResize="0"/>
          <p:nvPr/>
        </p:nvPicPr>
        <p:blipFill>
          <a:blip r:embed="rId8">
            <a:alphaModFix/>
          </a:blip>
          <a:stretch>
            <a:fillRect/>
          </a:stretch>
        </p:blipFill>
        <p:spPr>
          <a:xfrm>
            <a:off x="7409825" y="971625"/>
            <a:ext cx="949901" cy="1266550"/>
          </a:xfrm>
          <a:prstGeom prst="rect">
            <a:avLst/>
          </a:prstGeom>
          <a:noFill/>
          <a:ln>
            <a:noFill/>
          </a:ln>
        </p:spPr>
      </p:pic>
      <p:pic>
        <p:nvPicPr>
          <p:cNvPr id="584" name="Google Shape;584;p58" title="IMG_6808.jpeg"/>
          <p:cNvPicPr preferRelativeResize="0"/>
          <p:nvPr/>
        </p:nvPicPr>
        <p:blipFill>
          <a:blip r:embed="rId9">
            <a:alphaModFix/>
          </a:blip>
          <a:stretch>
            <a:fillRect/>
          </a:stretch>
        </p:blipFill>
        <p:spPr>
          <a:xfrm>
            <a:off x="5584531" y="971625"/>
            <a:ext cx="1688745" cy="12665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588"/>
        <p:cNvGrpSpPr/>
        <p:nvPr/>
      </p:nvGrpSpPr>
      <p:grpSpPr>
        <a:xfrm>
          <a:off x="0" y="0"/>
          <a:ext cx="0" cy="0"/>
          <a:chOff x="0" y="0"/>
          <a:chExt cx="0" cy="0"/>
        </a:xfrm>
      </p:grpSpPr>
      <p:sp>
        <p:nvSpPr>
          <p:cNvPr id="589" name="Google Shape;589;p59"/>
          <p:cNvSpPr/>
          <p:nvPr/>
        </p:nvSpPr>
        <p:spPr>
          <a:xfrm>
            <a:off x="-9450" y="-9450"/>
            <a:ext cx="4302000" cy="5193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0" name="Google Shape;590;p59"/>
          <p:cNvSpPr/>
          <p:nvPr/>
        </p:nvSpPr>
        <p:spPr>
          <a:xfrm>
            <a:off x="4302000" y="-54950"/>
            <a:ext cx="4893300" cy="5238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rPr>
              <a:t>43</a:t>
            </a:fld>
            <a:endParaRPr>
              <a:solidFill>
                <a:schemeClr val="dk1"/>
              </a:solidFill>
            </a:endParaRPr>
          </a:p>
        </p:txBody>
      </p:sp>
      <p:sp>
        <p:nvSpPr>
          <p:cNvPr id="592" name="Google Shape;592;p59"/>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593" name="Google Shape;593;p59"/>
          <p:cNvSpPr txBox="1">
            <a:spLocks noGrp="1"/>
          </p:cNvSpPr>
          <p:nvPr>
            <p:ph type="body" idx="1"/>
          </p:nvPr>
        </p:nvSpPr>
        <p:spPr>
          <a:xfrm>
            <a:off x="197375" y="2685650"/>
            <a:ext cx="3656100" cy="21339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Char char="●"/>
            </a:pPr>
            <a:r>
              <a:rPr lang="en" sz="1400">
                <a:solidFill>
                  <a:schemeClr val="dk1"/>
                </a:solidFill>
              </a:rPr>
              <a:t>Enforcing the beta_temp relationship flipped the model 3 trajectory</a:t>
            </a:r>
            <a:endParaRPr sz="1400">
              <a:solidFill>
                <a:schemeClr val="dk1"/>
              </a:solidFill>
            </a:endParaRPr>
          </a:p>
        </p:txBody>
      </p:sp>
      <p:sp>
        <p:nvSpPr>
          <p:cNvPr id="594" name="Google Shape;594;p59"/>
          <p:cNvSpPr txBox="1">
            <a:spLocks noGrp="1"/>
          </p:cNvSpPr>
          <p:nvPr>
            <p:ph type="title"/>
          </p:nvPr>
        </p:nvSpPr>
        <p:spPr>
          <a:xfrm>
            <a:off x="197375" y="1052750"/>
            <a:ext cx="3656100" cy="163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561">
                <a:solidFill>
                  <a:schemeClr val="dk1"/>
                </a:solidFill>
              </a:rPr>
              <a:t>Second Site - Pavilion Beach</a:t>
            </a:r>
            <a:endParaRPr sz="3561">
              <a:solidFill>
                <a:schemeClr val="dk1"/>
              </a:solidFill>
            </a:endParaRPr>
          </a:p>
        </p:txBody>
      </p:sp>
      <p:sp>
        <p:nvSpPr>
          <p:cNvPr id="595" name="Google Shape;595;p5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solidFill>
                  <a:schemeClr val="dk1"/>
                </a:solidFill>
              </a:rPr>
              <a:t>M.S. Defense</a:t>
            </a:r>
            <a:endParaRPr>
              <a:solidFill>
                <a:schemeClr val="dk1"/>
              </a:solidFill>
            </a:endParaRPr>
          </a:p>
        </p:txBody>
      </p:sp>
      <p:pic>
        <p:nvPicPr>
          <p:cNvPr id="596" name="Google Shape;596;p59" title="SEIP_2x2_comparison_data_pb_pos.png"/>
          <p:cNvPicPr preferRelativeResize="0"/>
          <p:nvPr/>
        </p:nvPicPr>
        <p:blipFill>
          <a:blip r:embed="rId3">
            <a:alphaModFix/>
          </a:blip>
          <a:stretch>
            <a:fillRect/>
          </a:stretch>
        </p:blipFill>
        <p:spPr>
          <a:xfrm>
            <a:off x="4571337" y="954212"/>
            <a:ext cx="4354627" cy="32659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600"/>
        <p:cNvGrpSpPr/>
        <p:nvPr/>
      </p:nvGrpSpPr>
      <p:grpSpPr>
        <a:xfrm>
          <a:off x="0" y="0"/>
          <a:ext cx="0" cy="0"/>
          <a:chOff x="0" y="0"/>
          <a:chExt cx="0" cy="0"/>
        </a:xfrm>
      </p:grpSpPr>
      <p:sp>
        <p:nvSpPr>
          <p:cNvPr id="601" name="Google Shape;601;p60"/>
          <p:cNvSpPr/>
          <p:nvPr/>
        </p:nvSpPr>
        <p:spPr>
          <a:xfrm>
            <a:off x="-9450" y="-9450"/>
            <a:ext cx="4302000" cy="5193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2" name="Google Shape;602;p60"/>
          <p:cNvSpPr/>
          <p:nvPr/>
        </p:nvSpPr>
        <p:spPr>
          <a:xfrm>
            <a:off x="3717150" y="-54950"/>
            <a:ext cx="5478000" cy="5238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3" name="Google Shape;603;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rPr>
              <a:t>44</a:t>
            </a:fld>
            <a:endParaRPr>
              <a:solidFill>
                <a:schemeClr val="dk1"/>
              </a:solidFill>
            </a:endParaRPr>
          </a:p>
        </p:txBody>
      </p:sp>
      <p:sp>
        <p:nvSpPr>
          <p:cNvPr id="604" name="Google Shape;604;p60"/>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Results</a:t>
            </a:r>
            <a:endParaRPr/>
          </a:p>
        </p:txBody>
      </p:sp>
      <p:sp>
        <p:nvSpPr>
          <p:cNvPr id="605" name="Google Shape;605;p60"/>
          <p:cNvSpPr txBox="1">
            <a:spLocks noGrp="1"/>
          </p:cNvSpPr>
          <p:nvPr>
            <p:ph type="title"/>
          </p:nvPr>
        </p:nvSpPr>
        <p:spPr>
          <a:xfrm>
            <a:off x="61050" y="1935900"/>
            <a:ext cx="3656100" cy="130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561">
                <a:solidFill>
                  <a:schemeClr val="dk1"/>
                </a:solidFill>
              </a:rPr>
              <a:t>Temperature Scenarios</a:t>
            </a:r>
            <a:endParaRPr sz="3561">
              <a:solidFill>
                <a:schemeClr val="dk1"/>
              </a:solidFill>
            </a:endParaRPr>
          </a:p>
        </p:txBody>
      </p:sp>
      <p:sp>
        <p:nvSpPr>
          <p:cNvPr id="606" name="Google Shape;606;p6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solidFill>
                  <a:schemeClr val="dk1"/>
                </a:solidFill>
              </a:rPr>
              <a:t>M.S. Defense</a:t>
            </a:r>
            <a:endParaRPr>
              <a:solidFill>
                <a:schemeClr val="dk1"/>
              </a:solidFill>
            </a:endParaRPr>
          </a:p>
        </p:txBody>
      </p:sp>
      <p:pic>
        <p:nvPicPr>
          <p:cNvPr id="607" name="Google Shape;607;p60" title="temp_scenarios.png"/>
          <p:cNvPicPr preferRelativeResize="0"/>
          <p:nvPr/>
        </p:nvPicPr>
        <p:blipFill>
          <a:blip r:embed="rId3">
            <a:alphaModFix/>
          </a:blip>
          <a:stretch>
            <a:fillRect/>
          </a:stretch>
        </p:blipFill>
        <p:spPr>
          <a:xfrm>
            <a:off x="3975651" y="1346950"/>
            <a:ext cx="4960998" cy="24804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611"/>
        <p:cNvGrpSpPr/>
        <p:nvPr/>
      </p:nvGrpSpPr>
      <p:grpSpPr>
        <a:xfrm>
          <a:off x="0" y="0"/>
          <a:ext cx="0" cy="0"/>
          <a:chOff x="0" y="0"/>
          <a:chExt cx="0" cy="0"/>
        </a:xfrm>
      </p:grpSpPr>
      <p:sp>
        <p:nvSpPr>
          <p:cNvPr id="612" name="Google Shape;612;p61"/>
          <p:cNvSpPr txBox="1">
            <a:spLocks noGrp="1"/>
          </p:cNvSpPr>
          <p:nvPr>
            <p:ph type="title"/>
          </p:nvPr>
        </p:nvSpPr>
        <p:spPr>
          <a:xfrm>
            <a:off x="196950" y="487625"/>
            <a:ext cx="4312500" cy="67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Decomposition</a:t>
            </a:r>
            <a:endParaRPr/>
          </a:p>
        </p:txBody>
      </p:sp>
      <p:sp>
        <p:nvSpPr>
          <p:cNvPr id="613" name="Google Shape;613;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
        <p:nvSpPr>
          <p:cNvPr id="614" name="Google Shape;614;p61"/>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Conclusion</a:t>
            </a:r>
            <a:endParaRPr/>
          </a:p>
        </p:txBody>
      </p:sp>
      <p:sp>
        <p:nvSpPr>
          <p:cNvPr id="615" name="Google Shape;615;p61"/>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616" name="Google Shape;616;p61"/>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
        <p:nvSpPr>
          <p:cNvPr id="617" name="Google Shape;617;p61"/>
          <p:cNvSpPr txBox="1"/>
          <p:nvPr/>
        </p:nvSpPr>
        <p:spPr>
          <a:xfrm>
            <a:off x="5206000" y="1037500"/>
            <a:ext cx="1129800" cy="5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M Sans Light"/>
                <a:ea typeface="DM Sans Light"/>
                <a:cs typeface="DM Sans Light"/>
                <a:sym typeface="DM Sans Light"/>
              </a:rPr>
              <a:t>Puget Sound, WA</a:t>
            </a:r>
            <a:endParaRPr sz="1200">
              <a:solidFill>
                <a:schemeClr val="lt1"/>
              </a:solidFill>
              <a:latin typeface="DM Sans Light"/>
              <a:ea typeface="DM Sans Light"/>
              <a:cs typeface="DM Sans Light"/>
              <a:sym typeface="DM Sans Light"/>
            </a:endParaRPr>
          </a:p>
        </p:txBody>
      </p:sp>
      <p:sp>
        <p:nvSpPr>
          <p:cNvPr id="618" name="Google Shape;618;p61"/>
          <p:cNvSpPr txBox="1"/>
          <p:nvPr/>
        </p:nvSpPr>
        <p:spPr>
          <a:xfrm>
            <a:off x="5206000" y="3026050"/>
            <a:ext cx="1129800" cy="5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M Sans Light"/>
                <a:ea typeface="DM Sans Light"/>
                <a:cs typeface="DM Sans Light"/>
                <a:sym typeface="DM Sans Light"/>
              </a:rPr>
              <a:t>East Coast, MA &amp; ME</a:t>
            </a:r>
            <a:endParaRPr sz="1200">
              <a:solidFill>
                <a:schemeClr val="lt1"/>
              </a:solidFill>
              <a:latin typeface="DM Sans Light"/>
              <a:ea typeface="DM Sans Light"/>
              <a:cs typeface="DM Sans Light"/>
              <a:sym typeface="DM Sans Light"/>
            </a:endParaRPr>
          </a:p>
        </p:txBody>
      </p:sp>
      <p:pic>
        <p:nvPicPr>
          <p:cNvPr id="619" name="Google Shape;619;p61" title="S_decomp_pb.png"/>
          <p:cNvPicPr preferRelativeResize="0"/>
          <p:nvPr/>
        </p:nvPicPr>
        <p:blipFill>
          <a:blip r:embed="rId3">
            <a:alphaModFix/>
          </a:blip>
          <a:stretch>
            <a:fillRect/>
          </a:stretch>
        </p:blipFill>
        <p:spPr>
          <a:xfrm>
            <a:off x="4750325" y="1161725"/>
            <a:ext cx="3942902" cy="3696475"/>
          </a:xfrm>
          <a:prstGeom prst="rect">
            <a:avLst/>
          </a:prstGeom>
          <a:noFill/>
          <a:ln>
            <a:noFill/>
          </a:ln>
        </p:spPr>
      </p:pic>
      <p:pic>
        <p:nvPicPr>
          <p:cNvPr id="620" name="Google Shape;620;p61" title="S_decomp_fr.png"/>
          <p:cNvPicPr preferRelativeResize="0"/>
          <p:nvPr/>
        </p:nvPicPr>
        <p:blipFill>
          <a:blip r:embed="rId4">
            <a:alphaModFix/>
          </a:blip>
          <a:stretch>
            <a:fillRect/>
          </a:stretch>
        </p:blipFill>
        <p:spPr>
          <a:xfrm>
            <a:off x="234825" y="1094325"/>
            <a:ext cx="4014802" cy="376387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624"/>
        <p:cNvGrpSpPr/>
        <p:nvPr/>
      </p:nvGrpSpPr>
      <p:grpSpPr>
        <a:xfrm>
          <a:off x="0" y="0"/>
          <a:ext cx="0" cy="0"/>
          <a:chOff x="0" y="0"/>
          <a:chExt cx="0" cy="0"/>
        </a:xfrm>
      </p:grpSpPr>
      <p:sp>
        <p:nvSpPr>
          <p:cNvPr id="625" name="Google Shape;625;p62"/>
          <p:cNvSpPr txBox="1">
            <a:spLocks noGrp="1"/>
          </p:cNvSpPr>
          <p:nvPr>
            <p:ph type="title"/>
          </p:nvPr>
        </p:nvSpPr>
        <p:spPr>
          <a:xfrm>
            <a:off x="196950" y="487625"/>
            <a:ext cx="4312500" cy="67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Decomposition</a:t>
            </a:r>
            <a:endParaRPr/>
          </a:p>
        </p:txBody>
      </p:sp>
      <p:sp>
        <p:nvSpPr>
          <p:cNvPr id="626" name="Google Shape;626;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
        <p:nvSpPr>
          <p:cNvPr id="627" name="Google Shape;627;p62"/>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Conclusion</a:t>
            </a:r>
            <a:endParaRPr/>
          </a:p>
        </p:txBody>
      </p:sp>
      <p:sp>
        <p:nvSpPr>
          <p:cNvPr id="628" name="Google Shape;628;p62"/>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M.S. Defense</a:t>
            </a:r>
            <a:endParaRPr/>
          </a:p>
        </p:txBody>
      </p:sp>
      <p:sp>
        <p:nvSpPr>
          <p:cNvPr id="629" name="Google Shape;629;p62"/>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
        <p:nvSpPr>
          <p:cNvPr id="630" name="Google Shape;630;p62"/>
          <p:cNvSpPr txBox="1"/>
          <p:nvPr/>
        </p:nvSpPr>
        <p:spPr>
          <a:xfrm>
            <a:off x="5206000" y="1037500"/>
            <a:ext cx="1129800" cy="5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M Sans Light"/>
                <a:ea typeface="DM Sans Light"/>
                <a:cs typeface="DM Sans Light"/>
                <a:sym typeface="DM Sans Light"/>
              </a:rPr>
              <a:t>Puget Sound, WA</a:t>
            </a:r>
            <a:endParaRPr sz="1200">
              <a:solidFill>
                <a:schemeClr val="lt1"/>
              </a:solidFill>
              <a:latin typeface="DM Sans Light"/>
              <a:ea typeface="DM Sans Light"/>
              <a:cs typeface="DM Sans Light"/>
              <a:sym typeface="DM Sans Light"/>
            </a:endParaRPr>
          </a:p>
        </p:txBody>
      </p:sp>
      <p:sp>
        <p:nvSpPr>
          <p:cNvPr id="631" name="Google Shape;631;p62"/>
          <p:cNvSpPr txBox="1"/>
          <p:nvPr/>
        </p:nvSpPr>
        <p:spPr>
          <a:xfrm>
            <a:off x="5206000" y="3026050"/>
            <a:ext cx="1129800" cy="5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M Sans Light"/>
                <a:ea typeface="DM Sans Light"/>
                <a:cs typeface="DM Sans Light"/>
                <a:sym typeface="DM Sans Light"/>
              </a:rPr>
              <a:t>East Coast, MA &amp; ME</a:t>
            </a:r>
            <a:endParaRPr sz="1200">
              <a:solidFill>
                <a:schemeClr val="lt1"/>
              </a:solidFill>
              <a:latin typeface="DM Sans Light"/>
              <a:ea typeface="DM Sans Light"/>
              <a:cs typeface="DM Sans Light"/>
              <a:sym typeface="DM Sans Light"/>
            </a:endParaRPr>
          </a:p>
        </p:txBody>
      </p:sp>
      <p:pic>
        <p:nvPicPr>
          <p:cNvPr id="632" name="Google Shape;632;p62" title="sequential_seasonal.png"/>
          <p:cNvPicPr preferRelativeResize="0"/>
          <p:nvPr/>
        </p:nvPicPr>
        <p:blipFill>
          <a:blip r:embed="rId3">
            <a:alphaModFix/>
          </a:blip>
          <a:stretch>
            <a:fillRect/>
          </a:stretch>
        </p:blipFill>
        <p:spPr>
          <a:xfrm>
            <a:off x="1254750" y="1243525"/>
            <a:ext cx="6903649" cy="34518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1468</TotalTime>
  <Words>2855</Words>
  <Application>Microsoft Macintosh PowerPoint</Application>
  <PresentationFormat>On-screen Show (16:9)</PresentationFormat>
  <Paragraphs>423</Paragraphs>
  <Slides>46</Slides>
  <Notes>46</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Rubik</vt:lpstr>
      <vt:lpstr>DM Sans</vt:lpstr>
      <vt:lpstr>Cambria Math</vt:lpstr>
      <vt:lpstr>Archivo</vt:lpstr>
      <vt:lpstr>Merriweather</vt:lpstr>
      <vt:lpstr>Arial</vt:lpstr>
      <vt:lpstr>DM Sans Light</vt:lpstr>
      <vt:lpstr>Simple Light</vt:lpstr>
      <vt:lpstr>A Bayesian framework to model temperature-dependent transmissible cancer dynamics within soft-shell clam (Mya arenaria) populations</vt:lpstr>
      <vt:lpstr>PowerPoint Presentation</vt:lpstr>
      <vt:lpstr>Natural Transmissible Cancers</vt:lpstr>
      <vt:lpstr>BTN</vt:lpstr>
      <vt:lpstr>Knowledge Gaps</vt:lpstr>
      <vt:lpstr>PowerPoint Presentation</vt:lpstr>
      <vt:lpstr>PowerPoint Presentation</vt:lpstr>
      <vt:lpstr>PowerPoint Presentation</vt:lpstr>
      <vt:lpstr>SEIP Model</vt:lpstr>
      <vt:lpstr>Four Model Variants</vt:lpstr>
      <vt:lpstr>Model Assumptions</vt:lpstr>
      <vt:lpstr>Bayesian Modeling</vt:lpstr>
      <vt:lpstr>STAN</vt:lpstr>
      <vt:lpstr>Lab Data - Cancer Cell Emission</vt:lpstr>
      <vt:lpstr>Lab Data - Cancer Progression</vt:lpstr>
      <vt:lpstr>Lab Data - Temp. Effect on Progression </vt:lpstr>
      <vt:lpstr>Lab Data - Cell Decay</vt:lpstr>
      <vt:lpstr>Study Sites</vt:lpstr>
      <vt:lpstr>T(t) temp function</vt:lpstr>
      <vt:lpstr>Observed Seasonality</vt:lpstr>
      <vt:lpstr>PowerPoint Presentation</vt:lpstr>
      <vt:lpstr>PowerPoint Presentation</vt:lpstr>
      <vt:lpstr>Model Set-up</vt:lpstr>
      <vt:lpstr>Structural Identifiability</vt:lpstr>
      <vt:lpstr>PowerPoint Presentation</vt:lpstr>
      <vt:lpstr>Model Results</vt:lpstr>
      <vt:lpstr>Model Comparisons</vt:lpstr>
      <vt:lpstr>PPCs</vt:lpstr>
      <vt:lpstr>Visual Model Comparisons</vt:lpstr>
      <vt:lpstr>Visual Model Comparisons</vt:lpstr>
      <vt:lpstr>Model 4 Results</vt:lpstr>
      <vt:lpstr>Model 4 Results</vt:lpstr>
      <vt:lpstr>Model Sensitivity</vt:lpstr>
      <vt:lpstr>Model Validation</vt:lpstr>
      <vt:lpstr>Model Extension - “Model 5”</vt:lpstr>
      <vt:lpstr>Model Extension - “Model 5”</vt:lpstr>
      <vt:lpstr>Second Site - Pavilion Beach</vt:lpstr>
      <vt:lpstr>Data Limitations</vt:lpstr>
      <vt:lpstr>PowerPoint Presentation</vt:lpstr>
      <vt:lpstr>Conclusions</vt:lpstr>
      <vt:lpstr>Future Directions</vt:lpstr>
      <vt:lpstr>Thank You</vt:lpstr>
      <vt:lpstr>Second Site - Pavilion Beach</vt:lpstr>
      <vt:lpstr>Temperature Scenarios</vt:lpstr>
      <vt:lpstr>Decomposition</vt:lpstr>
      <vt:lpstr>Decomposition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Carissa S Mayo</cp:lastModifiedBy>
  <cp:revision>3</cp:revision>
  <dcterms:modified xsi:type="dcterms:W3CDTF">2026-02-12T19:07:15Z</dcterms:modified>
</cp:coreProperties>
</file>